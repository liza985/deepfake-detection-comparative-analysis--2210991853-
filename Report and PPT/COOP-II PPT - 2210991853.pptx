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13"/>
  </p:handoutMasterIdLst>
  <p:sldIdLst>
    <p:sldId id="256" r:id="rId2"/>
    <p:sldId id="257" r:id="rId3"/>
    <p:sldId id="258" r:id="rId4"/>
    <p:sldId id="259" r:id="rId5"/>
    <p:sldId id="260" r:id="rId6"/>
    <p:sldId id="261" r:id="rId7"/>
    <p:sldId id="262" r:id="rId8"/>
    <p:sldId id="263" r:id="rId9"/>
    <p:sldId id="267" r:id="rId10"/>
    <p:sldId id="266" r:id="rId11"/>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41"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5" d="100"/>
          <a:sy n="85" d="100"/>
        </p:scale>
        <p:origin x="1133" y="67"/>
      </p:cViewPr>
      <p:guideLst>
        <p:guide orient="horz" pos="2841"/>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395EE3-8E27-77E1-0A3D-274854871256}"/>
              </a:ext>
            </a:extLst>
          </p:cNvPr>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F0C7AF2-4FE4-1B6E-42E6-7DABB4530115}"/>
              </a:ext>
            </a:extLst>
          </p:cNvPr>
          <p:cNvSpPr>
            <a:spLocks noGrp="1"/>
          </p:cNvSpPr>
          <p:nvPr>
            <p:ph type="dt" sz="quarter" idx="1"/>
          </p:nvPr>
        </p:nvSpPr>
        <p:spPr>
          <a:xfrm>
            <a:off x="5697538" y="0"/>
            <a:ext cx="4359275" cy="388938"/>
          </a:xfrm>
          <a:prstGeom prst="rect">
            <a:avLst/>
          </a:prstGeom>
        </p:spPr>
        <p:txBody>
          <a:bodyPr vert="horz" lIns="91440" tIns="45720" rIns="91440" bIns="45720" rtlCol="0"/>
          <a:lstStyle>
            <a:lvl1pPr algn="r">
              <a:defRPr sz="1200"/>
            </a:lvl1pPr>
          </a:lstStyle>
          <a:p>
            <a:fld id="{1E4FBE07-60F8-46B3-92B2-F4D6484FD391}" type="datetimeFigureOut">
              <a:rPr lang="en-IN" smtClean="0"/>
              <a:t>19-05-2026</a:t>
            </a:fld>
            <a:endParaRPr lang="en-IN"/>
          </a:p>
        </p:txBody>
      </p:sp>
      <p:sp>
        <p:nvSpPr>
          <p:cNvPr id="4" name="Footer Placeholder 3">
            <a:extLst>
              <a:ext uri="{FF2B5EF4-FFF2-40B4-BE49-F238E27FC236}">
                <a16:creationId xmlns:a16="http://schemas.microsoft.com/office/drawing/2014/main" id="{5D2BB7F3-DCCF-45DF-D49C-AFFDDF02A908}"/>
              </a:ext>
            </a:extLst>
          </p:cNvPr>
          <p:cNvSpPr>
            <a:spLocks noGrp="1"/>
          </p:cNvSpPr>
          <p:nvPr>
            <p:ph type="ftr" sz="quarter" idx="2"/>
          </p:nvPr>
        </p:nvSpPr>
        <p:spPr>
          <a:xfrm>
            <a:off x="0" y="7383463"/>
            <a:ext cx="4359275" cy="388937"/>
          </a:xfrm>
          <a:prstGeom prst="rect">
            <a:avLst/>
          </a:prstGeom>
        </p:spPr>
        <p:txBody>
          <a:bodyPr vert="horz" lIns="91440" tIns="45720" rIns="91440" bIns="45720" rtlCol="0" anchor="b"/>
          <a:lstStyle>
            <a:lvl1pPr algn="l">
              <a:defRPr sz="1200"/>
            </a:lvl1pPr>
          </a:lstStyle>
          <a:p>
            <a:r>
              <a:rPr lang="en-IN"/>
              <a:t>9</a:t>
            </a:r>
          </a:p>
        </p:txBody>
      </p:sp>
      <p:sp>
        <p:nvSpPr>
          <p:cNvPr id="5" name="Slide Number Placeholder 4">
            <a:extLst>
              <a:ext uri="{FF2B5EF4-FFF2-40B4-BE49-F238E27FC236}">
                <a16:creationId xmlns:a16="http://schemas.microsoft.com/office/drawing/2014/main" id="{259AF641-A8A9-AE86-AFAE-E04535B1C435}"/>
              </a:ext>
            </a:extLst>
          </p:cNvPr>
          <p:cNvSpPr>
            <a:spLocks noGrp="1"/>
          </p:cNvSpPr>
          <p:nvPr>
            <p:ph type="sldNum" sz="quarter" idx="3"/>
          </p:nvPr>
        </p:nvSpPr>
        <p:spPr>
          <a:xfrm>
            <a:off x="5697538" y="7383463"/>
            <a:ext cx="4359275" cy="388937"/>
          </a:xfrm>
          <a:prstGeom prst="rect">
            <a:avLst/>
          </a:prstGeom>
        </p:spPr>
        <p:txBody>
          <a:bodyPr vert="horz" lIns="91440" tIns="45720" rIns="91440" bIns="45720" rtlCol="0" anchor="b"/>
          <a:lstStyle>
            <a:lvl1pPr algn="r">
              <a:defRPr sz="1200"/>
            </a:lvl1pPr>
          </a:lstStyle>
          <a:p>
            <a:fld id="{43C9B9F1-31EA-41CC-94A3-CA5BE52E7F2A}" type="slidenum">
              <a:rPr lang="en-IN" smtClean="0"/>
              <a:t>‹#›</a:t>
            </a:fld>
            <a:endParaRPr lang="en-IN"/>
          </a:p>
        </p:txBody>
      </p:sp>
    </p:spTree>
    <p:extLst>
      <p:ext uri="{BB962C8B-B14F-4D97-AF65-F5344CB8AC3E}">
        <p14:creationId xmlns:p14="http://schemas.microsoft.com/office/powerpoint/2010/main" val="287438334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4DDB21EC-96E4-4A6B-A105-466CE17E3E59}" type="datetimeFigureOut">
              <a:rPr lang="en-IN" smtClean="0"/>
              <a:t>19-05-2026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r>
              <a:rPr lang="en-IN"/>
              <a:t>9</a:t>
            </a:r>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AF3DE0E-4167-489E-A32A-44983428B949}" type="slidenum">
              <a:rPr lang="en-IN" smtClean="0"/>
              <a:t>‹#›</a:t>
            </a:fld>
            <a:endParaRPr lang="en-IN"/>
          </a:p>
        </p:txBody>
      </p:sp>
    </p:spTree>
    <p:extLst>
      <p:ext uri="{BB962C8B-B14F-4D97-AF65-F5344CB8AC3E}">
        <p14:creationId xmlns:p14="http://schemas.microsoft.com/office/powerpoint/2010/main" val="743615456"/>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3500" b="0"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265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5/19/2026</a:t>
            </a:fld>
            <a:endParaRPr lang="en-US"/>
          </a:p>
        </p:txBody>
      </p:sp>
      <p:sp>
        <p:nvSpPr>
          <p:cNvPr id="6" name="Holder 6"/>
          <p:cNvSpPr>
            <a:spLocks noGrp="1"/>
          </p:cNvSpPr>
          <p:nvPr>
            <p:ph type="sldNum" sz="quarter" idx="7"/>
          </p:nvPr>
        </p:nvSpPr>
        <p:spPr/>
        <p:txBody>
          <a:bodyPr lIns="0" tIns="0" rIns="0" bIns="0"/>
          <a:lstStyle>
            <a:lvl1pPr>
              <a:defRPr sz="1300" b="1" i="0">
                <a:solidFill>
                  <a:schemeClr val="tx1"/>
                </a:solidFill>
                <a:latin typeface="Calibri" panose="020F0502020204030204"/>
                <a:cs typeface="Calibri" panose="020F0502020204030204"/>
              </a:defRPr>
            </a:lvl1pPr>
          </a:lstStyle>
          <a:p>
            <a:pPr marL="38100">
              <a:lnSpc>
                <a:spcPts val="135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p:txBody>
          <a:bodyPr lIns="0" tIns="0" rIns="0" bIns="0"/>
          <a:lstStyle>
            <a:lvl1pPr>
              <a:defRPr sz="265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5/19/2026</a:t>
            </a:fld>
            <a:endParaRPr lang="en-US"/>
          </a:p>
        </p:txBody>
      </p:sp>
      <p:sp>
        <p:nvSpPr>
          <p:cNvPr id="6" name="Holder 6"/>
          <p:cNvSpPr>
            <a:spLocks noGrp="1"/>
          </p:cNvSpPr>
          <p:nvPr>
            <p:ph type="sldNum" sz="quarter" idx="7"/>
          </p:nvPr>
        </p:nvSpPr>
        <p:spPr/>
        <p:txBody>
          <a:bodyPr lIns="0" tIns="0" rIns="0" bIns="0"/>
          <a:lstStyle>
            <a:lvl1pPr>
              <a:defRPr sz="1300" b="1" i="0">
                <a:solidFill>
                  <a:schemeClr val="tx1"/>
                </a:solidFill>
                <a:latin typeface="Calibri" panose="020F0502020204030204"/>
                <a:cs typeface="Calibri" panose="020F0502020204030204"/>
              </a:defRPr>
            </a:lvl1pPr>
          </a:lstStyle>
          <a:p>
            <a:pPr marL="38100">
              <a:lnSpc>
                <a:spcPts val="135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5/19/2026</a:t>
            </a:fld>
            <a:endParaRPr lang="en-US"/>
          </a:p>
        </p:txBody>
      </p:sp>
      <p:sp>
        <p:nvSpPr>
          <p:cNvPr id="7" name="Holder 7"/>
          <p:cNvSpPr>
            <a:spLocks noGrp="1"/>
          </p:cNvSpPr>
          <p:nvPr>
            <p:ph type="sldNum" sz="quarter" idx="7"/>
          </p:nvPr>
        </p:nvSpPr>
        <p:spPr/>
        <p:txBody>
          <a:bodyPr lIns="0" tIns="0" rIns="0" bIns="0"/>
          <a:lstStyle>
            <a:lvl1pPr>
              <a:defRPr sz="1300" b="1" i="0">
                <a:solidFill>
                  <a:schemeClr val="tx1"/>
                </a:solidFill>
                <a:latin typeface="Calibri" panose="020F0502020204030204"/>
                <a:cs typeface="Calibri" panose="020F0502020204030204"/>
              </a:defRPr>
            </a:lvl1pPr>
          </a:lstStyle>
          <a:p>
            <a:pPr marL="38100">
              <a:lnSpc>
                <a:spcPts val="135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5/19/2026</a:t>
            </a:fld>
            <a:endParaRPr lang="en-US"/>
          </a:p>
        </p:txBody>
      </p:sp>
      <p:sp>
        <p:nvSpPr>
          <p:cNvPr id="5" name="Holder 5"/>
          <p:cNvSpPr>
            <a:spLocks noGrp="1"/>
          </p:cNvSpPr>
          <p:nvPr>
            <p:ph type="sldNum" sz="quarter" idx="7"/>
          </p:nvPr>
        </p:nvSpPr>
        <p:spPr/>
        <p:txBody>
          <a:bodyPr lIns="0" tIns="0" rIns="0" bIns="0"/>
          <a:lstStyle>
            <a:lvl1pPr>
              <a:defRPr sz="1300" b="1" i="0">
                <a:solidFill>
                  <a:schemeClr val="tx1"/>
                </a:solidFill>
                <a:latin typeface="Calibri" panose="020F0502020204030204"/>
                <a:cs typeface="Calibri" panose="020F0502020204030204"/>
              </a:defRPr>
            </a:lvl1pPr>
          </a:lstStyle>
          <a:p>
            <a:pPr marL="38100">
              <a:lnSpc>
                <a:spcPts val="135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5/19/2026</a:t>
            </a:fld>
            <a:endParaRPr lang="en-US"/>
          </a:p>
        </p:txBody>
      </p:sp>
      <p:sp>
        <p:nvSpPr>
          <p:cNvPr id="4" name="Holder 4"/>
          <p:cNvSpPr>
            <a:spLocks noGrp="1"/>
          </p:cNvSpPr>
          <p:nvPr>
            <p:ph type="sldNum" sz="quarter" idx="7"/>
          </p:nvPr>
        </p:nvSpPr>
        <p:spPr/>
        <p:txBody>
          <a:bodyPr lIns="0" tIns="0" rIns="0" bIns="0"/>
          <a:lstStyle>
            <a:lvl1pPr>
              <a:defRPr sz="1300" b="1" i="0">
                <a:solidFill>
                  <a:schemeClr val="tx1"/>
                </a:solidFill>
                <a:latin typeface="Calibri" panose="020F0502020204030204"/>
                <a:cs typeface="Calibri" panose="020F0502020204030204"/>
              </a:defRPr>
            </a:lvl1pPr>
          </a:lstStyle>
          <a:p>
            <a:pPr marL="38100">
              <a:lnSpc>
                <a:spcPts val="135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jpeg"/><Relationship Id="rId4" Type="http://schemas.openxmlformats.org/officeDocument/2006/relationships/slideLayout" Target="../slideLayouts/slideLayout4.xml"/><Relationship Id="rId9"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14300"/>
            <a:ext cx="10058400" cy="922019"/>
          </a:xfrm>
          <a:custGeom>
            <a:avLst/>
            <a:gdLst/>
            <a:ahLst/>
            <a:cxnLst/>
            <a:rect l="l" t="t" r="r" b="b"/>
            <a:pathLst>
              <a:path w="10058400" h="922019">
                <a:moveTo>
                  <a:pt x="10058400" y="922020"/>
                </a:moveTo>
                <a:lnTo>
                  <a:pt x="0" y="922020"/>
                </a:lnTo>
                <a:lnTo>
                  <a:pt x="0" y="0"/>
                </a:lnTo>
                <a:lnTo>
                  <a:pt x="10058400" y="0"/>
                </a:lnTo>
                <a:lnTo>
                  <a:pt x="10058400" y="922020"/>
                </a:lnTo>
                <a:close/>
              </a:path>
            </a:pathLst>
          </a:custGeom>
          <a:solidFill>
            <a:srgbClr val="FF33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7484364"/>
            <a:ext cx="10058400" cy="173735"/>
          </a:xfrm>
          <a:prstGeom prst="rect">
            <a:avLst/>
          </a:prstGeom>
        </p:spPr>
      </p:pic>
      <p:pic>
        <p:nvPicPr>
          <p:cNvPr id="18" name="bg object 18"/>
          <p:cNvPicPr/>
          <p:nvPr/>
        </p:nvPicPr>
        <p:blipFill>
          <a:blip r:embed="rId8" cstate="print"/>
          <a:stretch>
            <a:fillRect/>
          </a:stretch>
        </p:blipFill>
        <p:spPr>
          <a:xfrm>
            <a:off x="7208520" y="365760"/>
            <a:ext cx="2263140" cy="699515"/>
          </a:xfrm>
          <a:prstGeom prst="rect">
            <a:avLst/>
          </a:prstGeom>
        </p:spPr>
      </p:pic>
      <p:pic>
        <p:nvPicPr>
          <p:cNvPr id="19" name="bg object 19"/>
          <p:cNvPicPr/>
          <p:nvPr/>
        </p:nvPicPr>
        <p:blipFill>
          <a:blip r:embed="rId9" cstate="print"/>
          <a:stretch>
            <a:fillRect/>
          </a:stretch>
        </p:blipFill>
        <p:spPr>
          <a:xfrm>
            <a:off x="7208520" y="365760"/>
            <a:ext cx="2113787" cy="670560"/>
          </a:xfrm>
          <a:prstGeom prst="rect">
            <a:avLst/>
          </a:prstGeom>
        </p:spPr>
      </p:pic>
      <p:pic>
        <p:nvPicPr>
          <p:cNvPr id="20" name="bg object 20"/>
          <p:cNvPicPr/>
          <p:nvPr/>
        </p:nvPicPr>
        <p:blipFill>
          <a:blip r:embed="rId10" cstate="print"/>
          <a:stretch>
            <a:fillRect/>
          </a:stretch>
        </p:blipFill>
        <p:spPr>
          <a:xfrm>
            <a:off x="7208520" y="365760"/>
            <a:ext cx="2263140" cy="699515"/>
          </a:xfrm>
          <a:prstGeom prst="rect">
            <a:avLst/>
          </a:prstGeom>
        </p:spPr>
      </p:pic>
      <p:sp>
        <p:nvSpPr>
          <p:cNvPr id="21" name="bg object 21"/>
          <p:cNvSpPr/>
          <p:nvPr/>
        </p:nvSpPr>
        <p:spPr>
          <a:xfrm>
            <a:off x="6761988" y="114300"/>
            <a:ext cx="3296920" cy="922019"/>
          </a:xfrm>
          <a:custGeom>
            <a:avLst/>
            <a:gdLst/>
            <a:ahLst/>
            <a:cxnLst/>
            <a:rect l="l" t="t" r="r" b="b"/>
            <a:pathLst>
              <a:path w="3296920" h="922019">
                <a:moveTo>
                  <a:pt x="3296412" y="922020"/>
                </a:moveTo>
                <a:lnTo>
                  <a:pt x="0" y="922020"/>
                </a:lnTo>
                <a:lnTo>
                  <a:pt x="0" y="0"/>
                </a:lnTo>
                <a:lnTo>
                  <a:pt x="3296412" y="0"/>
                </a:lnTo>
                <a:lnTo>
                  <a:pt x="3296412" y="922020"/>
                </a:lnTo>
                <a:close/>
              </a:path>
            </a:pathLst>
          </a:custGeom>
          <a:solidFill>
            <a:srgbClr val="FF3300"/>
          </a:solidFill>
        </p:spPr>
        <p:txBody>
          <a:bodyPr wrap="square" lIns="0" tIns="0" rIns="0" bIns="0" rtlCol="0"/>
          <a:lstStyle/>
          <a:p>
            <a:endParaRPr/>
          </a:p>
        </p:txBody>
      </p:sp>
      <p:pic>
        <p:nvPicPr>
          <p:cNvPr id="22" name="bg object 22"/>
          <p:cNvPicPr/>
          <p:nvPr/>
        </p:nvPicPr>
        <p:blipFill>
          <a:blip r:embed="rId10" cstate="print"/>
          <a:stretch>
            <a:fillRect/>
          </a:stretch>
        </p:blipFill>
        <p:spPr>
          <a:xfrm>
            <a:off x="7208520" y="365760"/>
            <a:ext cx="2263140" cy="699515"/>
          </a:xfrm>
          <a:prstGeom prst="rect">
            <a:avLst/>
          </a:prstGeom>
        </p:spPr>
      </p:pic>
      <p:sp>
        <p:nvSpPr>
          <p:cNvPr id="23" name="bg object 23"/>
          <p:cNvSpPr/>
          <p:nvPr/>
        </p:nvSpPr>
        <p:spPr>
          <a:xfrm>
            <a:off x="7181088" y="324612"/>
            <a:ext cx="2284730" cy="754380"/>
          </a:xfrm>
          <a:custGeom>
            <a:avLst/>
            <a:gdLst/>
            <a:ahLst/>
            <a:cxnLst/>
            <a:rect l="l" t="t" r="r" b="b"/>
            <a:pathLst>
              <a:path w="2284729" h="754380">
                <a:moveTo>
                  <a:pt x="2284476" y="754379"/>
                </a:moveTo>
                <a:lnTo>
                  <a:pt x="0" y="754379"/>
                </a:lnTo>
                <a:lnTo>
                  <a:pt x="0" y="0"/>
                </a:lnTo>
                <a:lnTo>
                  <a:pt x="2284476" y="0"/>
                </a:lnTo>
                <a:lnTo>
                  <a:pt x="2284476" y="754379"/>
                </a:lnTo>
                <a:close/>
              </a:path>
            </a:pathLst>
          </a:custGeom>
          <a:solidFill>
            <a:srgbClr val="FFFFFF"/>
          </a:solidFill>
        </p:spPr>
        <p:txBody>
          <a:bodyPr wrap="square" lIns="0" tIns="0" rIns="0" bIns="0" rtlCol="0"/>
          <a:lstStyle/>
          <a:p>
            <a:endParaRPr/>
          </a:p>
        </p:txBody>
      </p:sp>
      <p:pic>
        <p:nvPicPr>
          <p:cNvPr id="24" name="bg object 24"/>
          <p:cNvPicPr/>
          <p:nvPr/>
        </p:nvPicPr>
        <p:blipFill>
          <a:blip r:embed="rId9" cstate="print"/>
          <a:stretch>
            <a:fillRect/>
          </a:stretch>
        </p:blipFill>
        <p:spPr>
          <a:xfrm>
            <a:off x="7208520" y="365760"/>
            <a:ext cx="2113787" cy="670560"/>
          </a:xfrm>
          <a:prstGeom prst="rect">
            <a:avLst/>
          </a:prstGeom>
        </p:spPr>
      </p:pic>
      <p:sp>
        <p:nvSpPr>
          <p:cNvPr id="2" name="Holder 2"/>
          <p:cNvSpPr>
            <a:spLocks noGrp="1"/>
          </p:cNvSpPr>
          <p:nvPr>
            <p:ph type="title"/>
          </p:nvPr>
        </p:nvSpPr>
        <p:spPr>
          <a:xfrm>
            <a:off x="1346733" y="278373"/>
            <a:ext cx="4933315" cy="578128"/>
          </a:xfrm>
          <a:prstGeom prst="rect">
            <a:avLst/>
          </a:prstGeom>
        </p:spPr>
        <p:txBody>
          <a:bodyPr wrap="square" lIns="0" tIns="0" rIns="0" bIns="0">
            <a:spAutoFit/>
          </a:bodyPr>
          <a:lstStyle>
            <a:lvl1pPr>
              <a:defRPr sz="3500" b="0" i="0">
                <a:solidFill>
                  <a:schemeClr val="tx1"/>
                </a:solidFill>
                <a:latin typeface="Times New Roman" panose="02020603050405020304"/>
                <a:cs typeface="Times New Roman" panose="02020603050405020304"/>
              </a:defRPr>
            </a:lvl1pPr>
          </a:lstStyle>
          <a:p>
            <a:endParaRPr/>
          </a:p>
        </p:txBody>
      </p:sp>
      <p:sp>
        <p:nvSpPr>
          <p:cNvPr id="3" name="Holder 3"/>
          <p:cNvSpPr>
            <a:spLocks noGrp="1"/>
          </p:cNvSpPr>
          <p:nvPr>
            <p:ph type="body" idx="1"/>
          </p:nvPr>
        </p:nvSpPr>
        <p:spPr>
          <a:xfrm>
            <a:off x="269210" y="1360345"/>
            <a:ext cx="9408160" cy="4049395"/>
          </a:xfrm>
          <a:prstGeom prst="rect">
            <a:avLst/>
          </a:prstGeom>
        </p:spPr>
        <p:txBody>
          <a:bodyPr wrap="square" lIns="0" tIns="0" rIns="0" bIns="0">
            <a:spAutoFit/>
          </a:bodyPr>
          <a:lstStyle>
            <a:lvl1pPr>
              <a:defRPr sz="2650" b="0" i="0">
                <a:solidFill>
                  <a:schemeClr val="tx1"/>
                </a:solidFill>
                <a:latin typeface="Times New Roman" panose="02020603050405020304"/>
                <a:cs typeface="Times New Roman" panose="02020603050405020304"/>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5/19/2026</a:t>
            </a:fld>
            <a:endParaRPr lang="en-US"/>
          </a:p>
        </p:txBody>
      </p:sp>
      <p:sp>
        <p:nvSpPr>
          <p:cNvPr id="6" name="Holder 6"/>
          <p:cNvSpPr>
            <a:spLocks noGrp="1"/>
          </p:cNvSpPr>
          <p:nvPr>
            <p:ph type="sldNum" sz="quarter" idx="7"/>
          </p:nvPr>
        </p:nvSpPr>
        <p:spPr>
          <a:xfrm>
            <a:off x="9331497" y="7227086"/>
            <a:ext cx="173990" cy="193040"/>
          </a:xfrm>
          <a:prstGeom prst="rect">
            <a:avLst/>
          </a:prstGeom>
        </p:spPr>
        <p:txBody>
          <a:bodyPr wrap="square" lIns="0" tIns="0" rIns="0" bIns="0">
            <a:spAutoFit/>
          </a:bodyPr>
          <a:lstStyle>
            <a:lvl1pPr>
              <a:defRPr sz="1300" b="1" i="0">
                <a:solidFill>
                  <a:schemeClr val="tx1"/>
                </a:solidFill>
                <a:latin typeface="Calibri" panose="020F0502020204030204"/>
                <a:cs typeface="Calibri" panose="020F0502020204030204"/>
              </a:defRPr>
            </a:lvl1pPr>
          </a:lstStyle>
          <a:p>
            <a:pPr marL="38100">
              <a:lnSpc>
                <a:spcPts val="135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 y="685800"/>
            <a:ext cx="9753600" cy="6476132"/>
          </a:xfrm>
          <a:prstGeom prst="rect">
            <a:avLst/>
          </a:prstGeom>
        </p:spPr>
        <p:txBody>
          <a:bodyPr vert="horz" wrap="square" lIns="0" tIns="67310" rIns="0" bIns="0" rtlCol="0">
            <a:spAutoFit/>
          </a:bodyPr>
          <a:lstStyle/>
          <a:p>
            <a:pPr algn="ctr">
              <a:lnSpc>
                <a:spcPct val="100000"/>
              </a:lnSpc>
              <a:spcBef>
                <a:spcPts val="400"/>
              </a:spcBef>
            </a:pP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ctr">
              <a:spcBef>
                <a:spcPts val="400"/>
              </a:spcBef>
            </a:pPr>
            <a:r>
              <a:rPr lang="en-IN" sz="2400"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sz="2400" dirty="0">
                <a:latin typeface="Times New Roman" panose="02020603050405020304" pitchFamily="18" charset="0"/>
                <a:ea typeface="Calibri" panose="020F0502020204030204" pitchFamily="34" charset="0"/>
                <a:cs typeface="Times New Roman" panose="02020603050405020304" pitchFamily="18" charset="0"/>
              </a:rPr>
              <a:t>Co-Op - II</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355"/>
              </a:spcBef>
            </a:pPr>
            <a:r>
              <a:rPr lang="en-US" altLang="en-US" sz="4000" dirty="0">
                <a:latin typeface="Times New Roman" panose="02020603050405020304"/>
                <a:cs typeface="Times New Roman" panose="02020603050405020304"/>
              </a:rPr>
              <a:t>Deepfake Detection Using CNN and Capsule Networks:</a:t>
            </a:r>
          </a:p>
          <a:p>
            <a:pPr algn="ctr">
              <a:lnSpc>
                <a:spcPct val="100000"/>
              </a:lnSpc>
              <a:spcBef>
                <a:spcPts val="355"/>
              </a:spcBef>
            </a:pPr>
            <a:r>
              <a:rPr lang="en-US" altLang="en-US" sz="4000" dirty="0">
                <a:latin typeface="Times New Roman" panose="02020603050405020304"/>
                <a:cs typeface="Times New Roman" panose="02020603050405020304"/>
              </a:rPr>
              <a:t>A Comparative Analysis and Performance Evaluation</a:t>
            </a:r>
            <a:endParaRPr sz="4000" dirty="0">
              <a:latin typeface="Times New Roman" panose="02020603050405020304"/>
              <a:cs typeface="Times New Roman" panose="02020603050405020304"/>
            </a:endParaRPr>
          </a:p>
          <a:p>
            <a:pPr algn="ctr">
              <a:lnSpc>
                <a:spcPct val="100000"/>
              </a:lnSpc>
              <a:spcBef>
                <a:spcPts val="80"/>
              </a:spcBef>
            </a:pPr>
            <a:r>
              <a:rPr lang="en-US" altLang="" sz="2200" spc="-10" dirty="0">
                <a:latin typeface="Times New Roman" panose="02020603050405020304"/>
                <a:cs typeface="Times New Roman" panose="02020603050405020304"/>
              </a:rPr>
              <a:t>By</a:t>
            </a:r>
          </a:p>
          <a:p>
            <a:pPr algn="ctr">
              <a:lnSpc>
                <a:spcPct val="100000"/>
              </a:lnSpc>
              <a:spcBef>
                <a:spcPts val="80"/>
              </a:spcBef>
            </a:pPr>
            <a:r>
              <a:rPr lang="en-US" altLang="" sz="2200" spc="-10" dirty="0">
                <a:latin typeface="Times New Roman" panose="02020603050405020304"/>
                <a:cs typeface="Times New Roman" panose="02020603050405020304"/>
              </a:rPr>
              <a:t>Liza(2210991853) </a:t>
            </a:r>
          </a:p>
          <a:p>
            <a:pPr algn="ctr">
              <a:lnSpc>
                <a:spcPct val="100000"/>
              </a:lnSpc>
              <a:spcBef>
                <a:spcPts val="80"/>
              </a:spcBef>
            </a:pPr>
            <a:endParaRPr lang="en-US" altLang="en-US" sz="2200" spc="-10" dirty="0">
              <a:latin typeface="Times New Roman" panose="02020603050405020304"/>
              <a:cs typeface="Times New Roman" panose="02020603050405020304"/>
            </a:endParaRPr>
          </a:p>
          <a:p>
            <a:pPr algn="ctr">
              <a:lnSpc>
                <a:spcPct val="100000"/>
              </a:lnSpc>
              <a:spcBef>
                <a:spcPts val="80"/>
              </a:spcBef>
            </a:pPr>
            <a:r>
              <a:rPr sz="2200" spc="-30" dirty="0">
                <a:latin typeface="Times New Roman" panose="02020603050405020304"/>
                <a:cs typeface="Times New Roman" panose="02020603050405020304"/>
                <a:sym typeface="+mn-ea"/>
              </a:rPr>
              <a:t> </a:t>
            </a:r>
            <a:r>
              <a:rPr lang="en-US" altLang="en-US" sz="2200" dirty="0">
                <a:latin typeface="Times New Roman" panose="02020603050405020304"/>
                <a:cs typeface="Times New Roman" panose="02020603050405020304"/>
              </a:rPr>
              <a:t>  </a:t>
            </a:r>
            <a:r>
              <a:rPr sz="2200" dirty="0">
                <a:latin typeface="Times New Roman" panose="02020603050405020304"/>
                <a:cs typeface="Times New Roman" panose="02020603050405020304"/>
              </a:rPr>
              <a:t>Supervised</a:t>
            </a:r>
            <a:r>
              <a:rPr sz="2200" spc="-120"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By </a:t>
            </a:r>
            <a:r>
              <a:rPr lang="en-US" altLang="" sz="2200" spc="-25" dirty="0">
                <a:latin typeface="Times New Roman" panose="02020603050405020304"/>
                <a:cs typeface="Times New Roman" panose="02020603050405020304"/>
              </a:rPr>
              <a:t>M</a:t>
            </a:r>
            <a:r>
              <a:rPr sz="2200" spc="-50" dirty="0">
                <a:latin typeface="Times New Roman" panose="02020603050405020304"/>
                <a:cs typeface="Times New Roman" panose="02020603050405020304"/>
              </a:rPr>
              <a:t>r.</a:t>
            </a:r>
            <a:r>
              <a:rPr lang="en-IN" sz="2200" spc="-135" dirty="0">
                <a:latin typeface="Times New Roman" panose="02020603050405020304"/>
                <a:cs typeface="Times New Roman" panose="02020603050405020304"/>
              </a:rPr>
              <a:t> </a:t>
            </a:r>
            <a:r>
              <a:rPr lang="en-US" altLang="en-IN" sz="2200" spc="-135" dirty="0">
                <a:latin typeface="Times New Roman" panose="02020603050405020304"/>
                <a:cs typeface="Times New Roman" panose="02020603050405020304"/>
              </a:rPr>
              <a:t>Ajay</a:t>
            </a:r>
            <a:endParaRPr sz="2200" dirty="0">
              <a:latin typeface="Times New Roman" panose="02020603050405020304"/>
              <a:cs typeface="Times New Roman" panose="02020603050405020304"/>
            </a:endParaRPr>
          </a:p>
          <a:p>
            <a:pPr>
              <a:lnSpc>
                <a:spcPct val="100000"/>
              </a:lnSpc>
              <a:spcBef>
                <a:spcPts val="545"/>
              </a:spcBef>
            </a:pPr>
            <a:endParaRPr sz="2200" dirty="0">
              <a:latin typeface="Times New Roman" panose="02020603050405020304"/>
              <a:cs typeface="Times New Roman" panose="02020603050405020304"/>
            </a:endParaRPr>
          </a:p>
          <a:p>
            <a:pPr marL="440690" marR="432435" algn="ctr">
              <a:lnSpc>
                <a:spcPct val="113000"/>
              </a:lnSpc>
            </a:pPr>
            <a:r>
              <a:rPr sz="2650" spc="-10" dirty="0">
                <a:latin typeface="Times New Roman" panose="02020603050405020304"/>
                <a:cs typeface="Times New Roman" panose="02020603050405020304"/>
              </a:rPr>
              <a:t>Department</a:t>
            </a:r>
            <a:r>
              <a:rPr sz="2650" spc="-105" dirty="0">
                <a:latin typeface="Times New Roman" panose="02020603050405020304"/>
                <a:cs typeface="Times New Roman" panose="02020603050405020304"/>
              </a:rPr>
              <a:t> </a:t>
            </a:r>
            <a:r>
              <a:rPr sz="2650" dirty="0">
                <a:latin typeface="Times New Roman" panose="02020603050405020304"/>
                <a:cs typeface="Times New Roman" panose="02020603050405020304"/>
              </a:rPr>
              <a:t>of</a:t>
            </a:r>
            <a:r>
              <a:rPr sz="2650" spc="-65" dirty="0">
                <a:latin typeface="Times New Roman" panose="02020603050405020304"/>
                <a:cs typeface="Times New Roman" panose="02020603050405020304"/>
              </a:rPr>
              <a:t> </a:t>
            </a:r>
            <a:r>
              <a:rPr sz="2650" dirty="0">
                <a:latin typeface="Times New Roman" panose="02020603050405020304"/>
                <a:cs typeface="Times New Roman" panose="02020603050405020304"/>
              </a:rPr>
              <a:t>Computer</a:t>
            </a:r>
            <a:r>
              <a:rPr sz="2650" spc="-95" dirty="0">
                <a:latin typeface="Times New Roman" panose="02020603050405020304"/>
                <a:cs typeface="Times New Roman" panose="02020603050405020304"/>
              </a:rPr>
              <a:t> </a:t>
            </a:r>
            <a:r>
              <a:rPr sz="2650" dirty="0">
                <a:latin typeface="Times New Roman" panose="02020603050405020304"/>
                <a:cs typeface="Times New Roman" panose="02020603050405020304"/>
              </a:rPr>
              <a:t>Science</a:t>
            </a:r>
            <a:r>
              <a:rPr sz="2650" spc="-90" dirty="0">
                <a:latin typeface="Times New Roman" panose="02020603050405020304"/>
                <a:cs typeface="Times New Roman" panose="02020603050405020304"/>
              </a:rPr>
              <a:t> </a:t>
            </a:r>
            <a:r>
              <a:rPr sz="2650" dirty="0">
                <a:latin typeface="Times New Roman" panose="02020603050405020304"/>
                <a:cs typeface="Times New Roman" panose="02020603050405020304"/>
              </a:rPr>
              <a:t>and</a:t>
            </a:r>
            <a:r>
              <a:rPr sz="2650" spc="-80" dirty="0">
                <a:latin typeface="Times New Roman" panose="02020603050405020304"/>
                <a:cs typeface="Times New Roman" panose="02020603050405020304"/>
              </a:rPr>
              <a:t> </a:t>
            </a:r>
            <a:r>
              <a:rPr sz="2650" spc="-10" dirty="0">
                <a:latin typeface="Times New Roman" panose="02020603050405020304"/>
                <a:cs typeface="Times New Roman" panose="02020603050405020304"/>
              </a:rPr>
              <a:t>Engineering, </a:t>
            </a:r>
            <a:r>
              <a:rPr sz="2650" dirty="0">
                <a:latin typeface="Times New Roman" panose="02020603050405020304"/>
                <a:cs typeface="Times New Roman" panose="02020603050405020304"/>
              </a:rPr>
              <a:t>Chitkara</a:t>
            </a:r>
            <a:r>
              <a:rPr sz="2650" spc="-130" dirty="0">
                <a:latin typeface="Times New Roman" panose="02020603050405020304"/>
                <a:cs typeface="Times New Roman" panose="02020603050405020304"/>
              </a:rPr>
              <a:t> </a:t>
            </a:r>
            <a:r>
              <a:rPr sz="2650" spc="-20" dirty="0">
                <a:latin typeface="Times New Roman" panose="02020603050405020304"/>
                <a:cs typeface="Times New Roman" panose="02020603050405020304"/>
              </a:rPr>
              <a:t>University,</a:t>
            </a:r>
            <a:r>
              <a:rPr sz="2650" spc="-120" dirty="0">
                <a:latin typeface="Times New Roman" panose="02020603050405020304"/>
                <a:cs typeface="Times New Roman" panose="02020603050405020304"/>
              </a:rPr>
              <a:t> </a:t>
            </a:r>
            <a:r>
              <a:rPr sz="2650" spc="-10" dirty="0">
                <a:latin typeface="Times New Roman" panose="02020603050405020304"/>
                <a:cs typeface="Times New Roman" panose="02020603050405020304"/>
              </a:rPr>
              <a:t>Punjab</a:t>
            </a:r>
            <a:endParaRPr sz="2650" dirty="0">
              <a:latin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t>2</a:t>
            </a:fld>
            <a:endParaRPr spc="-50" dirty="0"/>
          </a:p>
        </p:txBody>
      </p:sp>
      <p:sp>
        <p:nvSpPr>
          <p:cNvPr id="3" name="object 3"/>
          <p:cNvSpPr txBox="1"/>
          <p:nvPr/>
        </p:nvSpPr>
        <p:spPr>
          <a:xfrm>
            <a:off x="433989" y="1066800"/>
            <a:ext cx="8910955" cy="5274310"/>
          </a:xfrm>
          <a:prstGeom prst="rect">
            <a:avLst/>
          </a:prstGeom>
        </p:spPr>
        <p:txBody>
          <a:bodyPr vert="horz" wrap="square" lIns="0" tIns="11430" rIns="0" bIns="0" rtlCol="0">
            <a:noAutofit/>
          </a:bodyPr>
          <a:lstStyle/>
          <a:p>
            <a:pPr marL="12700" indent="0">
              <a:lnSpc>
                <a:spcPts val="3175"/>
              </a:lnSpc>
              <a:spcBef>
                <a:spcPts val="90"/>
              </a:spcBef>
              <a:buSzPct val="57000"/>
              <a:buNone/>
              <a:tabLst>
                <a:tab pos="514350" algn="l"/>
              </a:tabLst>
            </a:pPr>
            <a:r>
              <a:rPr lang="en-US" altLang="en-US" dirty="0">
                <a:latin typeface="Times New Roman" panose="02020603050405020304"/>
                <a:cs typeface="Times New Roman" panose="02020603050405020304"/>
              </a:rPr>
              <a:t>Deepfake technology has rapidly evolved with advancements in deep learning, making it increasingly difficult to distinguish between real and manipulated media. While deepfakes have useful applications in entertainment, they pose serious risks including misinformation, identity theft, and privacy violations.</a:t>
            </a:r>
          </a:p>
          <a:p>
            <a:pPr marL="12700" indent="0">
              <a:lnSpc>
                <a:spcPts val="3175"/>
              </a:lnSpc>
              <a:spcBef>
                <a:spcPts val="90"/>
              </a:spcBef>
              <a:buSzPct val="57000"/>
              <a:buNone/>
              <a:tabLst>
                <a:tab pos="514350" algn="l"/>
              </a:tabLst>
            </a:pPr>
            <a:endParaRPr lang="en-US" altLang="en-US" dirty="0">
              <a:latin typeface="Times New Roman" panose="02020603050405020304"/>
              <a:cs typeface="Times New Roman" panose="02020603050405020304"/>
            </a:endParaRPr>
          </a:p>
          <a:p>
            <a:pPr marL="12700" indent="0">
              <a:lnSpc>
                <a:spcPts val="3175"/>
              </a:lnSpc>
              <a:spcBef>
                <a:spcPts val="90"/>
              </a:spcBef>
              <a:buSzPct val="57000"/>
              <a:buNone/>
              <a:tabLst>
                <a:tab pos="514350" algn="l"/>
              </a:tabLst>
            </a:pPr>
            <a:endParaRPr lang="en-US" altLang="en-US" dirty="0">
              <a:latin typeface="Times New Roman" panose="02020603050405020304"/>
              <a:cs typeface="Times New Roman" panose="02020603050405020304"/>
            </a:endParaRPr>
          </a:p>
          <a:p>
            <a:pPr marL="12700" indent="0">
              <a:lnSpc>
                <a:spcPts val="3175"/>
              </a:lnSpc>
              <a:spcBef>
                <a:spcPts val="90"/>
              </a:spcBef>
              <a:buSzPct val="57000"/>
              <a:buNone/>
              <a:tabLst>
                <a:tab pos="514350" algn="l"/>
              </a:tabLst>
            </a:pPr>
            <a:endParaRPr lang="en-US" altLang="en-US" dirty="0">
              <a:latin typeface="Times New Roman" panose="02020603050405020304"/>
              <a:cs typeface="Times New Roman" panose="02020603050405020304"/>
            </a:endParaRPr>
          </a:p>
          <a:p>
            <a:pPr marL="12700" indent="0">
              <a:lnSpc>
                <a:spcPts val="3175"/>
              </a:lnSpc>
              <a:spcBef>
                <a:spcPts val="90"/>
              </a:spcBef>
              <a:buSzPct val="57000"/>
              <a:buNone/>
              <a:tabLst>
                <a:tab pos="514350" algn="l"/>
              </a:tabLst>
            </a:pPr>
            <a:endParaRPr lang="en-US" altLang="en-US" dirty="0">
              <a:latin typeface="Times New Roman" panose="02020603050405020304"/>
              <a:cs typeface="Times New Roman" panose="02020603050405020304"/>
            </a:endParaRPr>
          </a:p>
          <a:p>
            <a:pPr marL="12700" indent="0">
              <a:lnSpc>
                <a:spcPts val="3175"/>
              </a:lnSpc>
              <a:spcBef>
                <a:spcPts val="90"/>
              </a:spcBef>
              <a:buSzPct val="57000"/>
              <a:buNone/>
              <a:tabLst>
                <a:tab pos="514350" algn="l"/>
              </a:tabLst>
            </a:pPr>
            <a:endParaRPr lang="en-US" altLang="en-US" dirty="0">
              <a:latin typeface="Times New Roman" panose="02020603050405020304"/>
              <a:cs typeface="Times New Roman" panose="02020603050405020304"/>
            </a:endParaRPr>
          </a:p>
          <a:p>
            <a:pPr marL="469900" indent="-457200">
              <a:lnSpc>
                <a:spcPts val="3175"/>
              </a:lnSpc>
              <a:spcBef>
                <a:spcPts val="90"/>
              </a:spcBef>
              <a:buSzPct val="57000"/>
              <a:buFont typeface="Wingdings" panose="05000000000000000000" charset="0"/>
              <a:buChar char="Ø"/>
              <a:tabLst>
                <a:tab pos="514350" algn="l"/>
              </a:tabLst>
            </a:pPr>
            <a:r>
              <a:rPr lang="en-US" altLang="en-US" dirty="0">
                <a:latin typeface="Times New Roman" panose="02020603050405020304"/>
                <a:cs typeface="Times New Roman" panose="02020603050405020304"/>
              </a:rPr>
              <a:t>CNNs are widely used for detecting visual inconsistencies but fail to preserve spatial relationships between facial features.</a:t>
            </a:r>
          </a:p>
          <a:p>
            <a:pPr marL="469900" indent="-457200">
              <a:lnSpc>
                <a:spcPts val="3175"/>
              </a:lnSpc>
              <a:spcBef>
                <a:spcPts val="90"/>
              </a:spcBef>
              <a:buSzPct val="57000"/>
              <a:buFont typeface="Wingdings" panose="05000000000000000000" charset="0"/>
              <a:buChar char="Ø"/>
              <a:tabLst>
                <a:tab pos="514350" algn="l"/>
              </a:tabLst>
            </a:pPr>
            <a:r>
              <a:rPr lang="en-US" altLang="en-US" dirty="0">
                <a:latin typeface="Times New Roman" panose="02020603050405020304"/>
                <a:cs typeface="Times New Roman" panose="02020603050405020304"/>
              </a:rPr>
              <a:t>Capsule Networks are introduced to overcome this limitation by maintaining spatial hierarchies and part-whole relationships.</a:t>
            </a:r>
          </a:p>
          <a:p>
            <a:pPr marL="469900" indent="-457200">
              <a:lnSpc>
                <a:spcPts val="3175"/>
              </a:lnSpc>
              <a:spcBef>
                <a:spcPts val="90"/>
              </a:spcBef>
              <a:buSzPct val="57000"/>
              <a:buFont typeface="Wingdings" panose="05000000000000000000" charset="0"/>
              <a:buChar char="Ø"/>
              <a:tabLst>
                <a:tab pos="514350" algn="l"/>
              </a:tabLst>
            </a:pPr>
            <a:r>
              <a:rPr lang="en-US" altLang="en-US" b="1" dirty="0">
                <a:latin typeface="Times New Roman" panose="02020603050405020304"/>
                <a:cs typeface="Times New Roman" panose="02020603050405020304"/>
              </a:rPr>
              <a:t>Objective</a:t>
            </a:r>
            <a:r>
              <a:rPr lang="en-US" altLang="en-US" dirty="0">
                <a:latin typeface="Times New Roman" panose="02020603050405020304"/>
                <a:cs typeface="Times New Roman" panose="02020603050405020304"/>
              </a:rPr>
              <a:t>: To implement and evaluate CNN and Capsule Network-based deepfake detection using accuracy, precision, recall, and F1-score.</a:t>
            </a:r>
          </a:p>
        </p:txBody>
      </p:sp>
      <p:sp>
        <p:nvSpPr>
          <p:cNvPr id="5" name="Title 4"/>
          <p:cNvSpPr>
            <a:spLocks noGrp="1"/>
          </p:cNvSpPr>
          <p:nvPr>
            <p:ph type="title"/>
          </p:nvPr>
        </p:nvSpPr>
        <p:spPr>
          <a:xfrm>
            <a:off x="914298" y="278373"/>
            <a:ext cx="4933315" cy="538480"/>
          </a:xfrm>
        </p:spPr>
        <p:txBody>
          <a:bodyPr/>
          <a:lstStyle/>
          <a:p>
            <a:r>
              <a:rPr lang="en-US"/>
              <a:t>INTRODUCTION</a:t>
            </a:r>
          </a:p>
        </p:txBody>
      </p:sp>
      <p:pic>
        <p:nvPicPr>
          <p:cNvPr id="2" name="Picture 1">
            <a:extLst>
              <a:ext uri="{FF2B5EF4-FFF2-40B4-BE49-F238E27FC236}">
                <a16:creationId xmlns:a16="http://schemas.microsoft.com/office/drawing/2014/main" id="{81738649-5860-6CFC-333D-AC694EFD6756}"/>
              </a:ext>
            </a:extLst>
          </p:cNvPr>
          <p:cNvPicPr>
            <a:picLocks noChangeAspect="1"/>
          </p:cNvPicPr>
          <p:nvPr/>
        </p:nvPicPr>
        <p:blipFill>
          <a:blip r:embed="rId2"/>
          <a:stretch>
            <a:fillRect/>
          </a:stretch>
        </p:blipFill>
        <p:spPr>
          <a:xfrm>
            <a:off x="3555966" y="2590800"/>
            <a:ext cx="3225834" cy="21505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228600"/>
            <a:ext cx="4692650" cy="552450"/>
          </a:xfrm>
          <a:prstGeom prst="rect">
            <a:avLst/>
          </a:prstGeom>
        </p:spPr>
        <p:txBody>
          <a:bodyPr vert="horz" wrap="square" lIns="0" tIns="14604" rIns="0" bIns="0" rtlCol="0">
            <a:spAutoFit/>
          </a:bodyPr>
          <a:lstStyle/>
          <a:p>
            <a:pPr marL="1361440" algn="l">
              <a:lnSpc>
                <a:spcPct val="100000"/>
              </a:lnSpc>
              <a:spcBef>
                <a:spcPts val="115"/>
              </a:spcBef>
            </a:pPr>
            <a:r>
              <a:rPr lang="en-US" spc="-10" dirty="0"/>
              <a:t>BACKGROUND</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t>3</a:t>
            </a:fld>
            <a:endParaRPr spc="-50" dirty="0"/>
          </a:p>
        </p:txBody>
      </p:sp>
      <p:sp>
        <p:nvSpPr>
          <p:cNvPr id="3" name="object 3"/>
          <p:cNvSpPr txBox="1"/>
          <p:nvPr/>
        </p:nvSpPr>
        <p:spPr>
          <a:xfrm>
            <a:off x="457201" y="1295400"/>
            <a:ext cx="9296400" cy="5979456"/>
          </a:xfrm>
          <a:prstGeom prst="rect">
            <a:avLst/>
          </a:prstGeom>
        </p:spPr>
        <p:txBody>
          <a:bodyPr vert="horz" wrap="square" lIns="0" tIns="26034" rIns="0" bIns="0" rtlCol="0">
            <a:spAutoFit/>
          </a:bodyPr>
          <a:lstStyle/>
          <a:p>
            <a:pPr marL="12700" marR="6350" algn="just">
              <a:lnSpc>
                <a:spcPts val="3170"/>
              </a:lnSpc>
              <a:spcBef>
                <a:spcPts val="205"/>
              </a:spcBef>
            </a:pPr>
            <a:r>
              <a:rPr lang="en-US" altLang="en-US" dirty="0">
                <a:latin typeface="Times New Roman" panose="02020603050405020304"/>
                <a:cs typeface="Times New Roman" panose="02020603050405020304"/>
              </a:rPr>
              <a:t>Deepfake generation has advanced rapidly using complex neural networks (GANs and autoencoders) to manipulate identity, facial expression, and speech. While useful in entertainment and media, deepfakes pose critical risks. CNNs dominate detection but struggle with spatial relationships. Capsule Networks offer a promising alternative by preserving spatial hierarchies.</a:t>
            </a:r>
          </a:p>
          <a:p>
            <a:pPr marL="12700" marR="6350" algn="just">
              <a:lnSpc>
                <a:spcPts val="3170"/>
              </a:lnSpc>
              <a:spcBef>
                <a:spcPts val="205"/>
              </a:spcBef>
            </a:pPr>
            <a:endParaRPr lang="en-US" altLang="en-US" dirty="0">
              <a:latin typeface="Times New Roman" panose="02020603050405020304"/>
              <a:cs typeface="Times New Roman" panose="02020603050405020304"/>
            </a:endParaRPr>
          </a:p>
          <a:p>
            <a:pPr marL="12700" marR="6350" algn="just">
              <a:lnSpc>
                <a:spcPts val="3170"/>
              </a:lnSpc>
              <a:spcBef>
                <a:spcPts val="205"/>
              </a:spcBef>
            </a:pPr>
            <a:endParaRPr lang="en-US" altLang="en-US" dirty="0">
              <a:latin typeface="Times New Roman" panose="02020603050405020304"/>
              <a:cs typeface="Times New Roman" panose="02020603050405020304"/>
            </a:endParaRPr>
          </a:p>
          <a:p>
            <a:pPr marL="12700" marR="6350" algn="just">
              <a:lnSpc>
                <a:spcPts val="3170"/>
              </a:lnSpc>
              <a:spcBef>
                <a:spcPts val="205"/>
              </a:spcBef>
            </a:pPr>
            <a:endParaRPr lang="en-US" altLang="en-US" dirty="0">
              <a:latin typeface="Times New Roman" panose="02020603050405020304"/>
              <a:cs typeface="Times New Roman" panose="02020603050405020304"/>
            </a:endParaRPr>
          </a:p>
          <a:p>
            <a:pPr marL="12700" marR="6350" algn="just">
              <a:lnSpc>
                <a:spcPts val="3170"/>
              </a:lnSpc>
              <a:spcBef>
                <a:spcPts val="205"/>
              </a:spcBef>
            </a:pPr>
            <a:endParaRPr lang="en-US" altLang="en-US" dirty="0">
              <a:latin typeface="Times New Roman" panose="02020603050405020304"/>
              <a:cs typeface="Times New Roman" panose="02020603050405020304"/>
            </a:endParaRPr>
          </a:p>
          <a:p>
            <a:pPr marL="12700" marR="6350" algn="just">
              <a:lnSpc>
                <a:spcPts val="3170"/>
              </a:lnSpc>
              <a:spcBef>
                <a:spcPts val="205"/>
              </a:spcBef>
            </a:pPr>
            <a:endParaRPr lang="en-US" altLang="en-US" dirty="0">
              <a:latin typeface="Times New Roman" panose="02020603050405020304"/>
              <a:cs typeface="Times New Roman" panose="02020603050405020304"/>
            </a:endParaRPr>
          </a:p>
          <a:p>
            <a:pPr marL="12700" marR="6350" algn="just">
              <a:lnSpc>
                <a:spcPts val="3170"/>
              </a:lnSpc>
              <a:spcBef>
                <a:spcPts val="205"/>
              </a:spcBef>
            </a:pPr>
            <a:endParaRPr lang="en-US" altLang="en-US" dirty="0">
              <a:latin typeface="Times New Roman" panose="02020603050405020304"/>
              <a:cs typeface="Times New Roman" panose="02020603050405020304"/>
            </a:endParaRPr>
          </a:p>
          <a:p>
            <a:pPr marL="12700" marR="6350" algn="just">
              <a:lnSpc>
                <a:spcPts val="3170"/>
              </a:lnSpc>
              <a:spcBef>
                <a:spcPts val="205"/>
              </a:spcBef>
            </a:pPr>
            <a:endParaRPr lang="en-US" altLang="en-US" dirty="0">
              <a:latin typeface="Times New Roman" panose="02020603050405020304"/>
              <a:cs typeface="Times New Roman" panose="02020603050405020304"/>
            </a:endParaRPr>
          </a:p>
          <a:p>
            <a:pPr marL="469900" marR="6350" indent="-457200" algn="just">
              <a:lnSpc>
                <a:spcPts val="3170"/>
              </a:lnSpc>
              <a:spcBef>
                <a:spcPts val="205"/>
              </a:spcBef>
              <a:buFont typeface="Wingdings" panose="05000000000000000000" charset="0"/>
              <a:buChar char="Ø"/>
            </a:pPr>
            <a:r>
              <a:rPr lang="en-US" altLang="en-US" dirty="0">
                <a:latin typeface="Times New Roman" panose="02020603050405020304"/>
                <a:cs typeface="Times New Roman" panose="02020603050405020304"/>
              </a:rPr>
              <a:t>Key Architectures: CNN (</a:t>
            </a:r>
            <a:r>
              <a:rPr lang="en-US" altLang="en-US" dirty="0" err="1">
                <a:latin typeface="Times New Roman" panose="02020603050405020304"/>
                <a:cs typeface="Times New Roman" panose="02020603050405020304"/>
              </a:rPr>
              <a:t>ResNet</a:t>
            </a:r>
            <a:r>
              <a:rPr lang="en-US" altLang="en-US" dirty="0">
                <a:latin typeface="Times New Roman" panose="02020603050405020304"/>
                <a:cs typeface="Times New Roman" panose="02020603050405020304"/>
              </a:rPr>
              <a:t>, </a:t>
            </a:r>
            <a:r>
              <a:rPr lang="en-US" altLang="en-US" dirty="0" err="1">
                <a:latin typeface="Times New Roman" panose="02020603050405020304"/>
                <a:cs typeface="Times New Roman" panose="02020603050405020304"/>
              </a:rPr>
              <a:t>Xception</a:t>
            </a:r>
            <a:r>
              <a:rPr lang="en-US" altLang="en-US" dirty="0">
                <a:latin typeface="Times New Roman" panose="02020603050405020304"/>
                <a:cs typeface="Times New Roman" panose="02020603050405020304"/>
              </a:rPr>
              <a:t>, </a:t>
            </a:r>
            <a:r>
              <a:rPr lang="en-US" altLang="en-US" dirty="0" err="1">
                <a:latin typeface="Times New Roman" panose="02020603050405020304"/>
                <a:cs typeface="Times New Roman" panose="02020603050405020304"/>
              </a:rPr>
              <a:t>EfficientNet</a:t>
            </a:r>
            <a:r>
              <a:rPr lang="en-US" altLang="en-US" dirty="0">
                <a:latin typeface="Times New Roman" panose="02020603050405020304"/>
                <a:cs typeface="Times New Roman" panose="02020603050405020304"/>
              </a:rPr>
              <a:t>), Capsule Networks</a:t>
            </a:r>
          </a:p>
          <a:p>
            <a:pPr marL="469900" marR="6350" indent="-457200" algn="just">
              <a:lnSpc>
                <a:spcPts val="3170"/>
              </a:lnSpc>
              <a:spcBef>
                <a:spcPts val="205"/>
              </a:spcBef>
              <a:buFont typeface="Wingdings" panose="05000000000000000000" charset="0"/>
              <a:buChar char="Ø"/>
            </a:pPr>
            <a:r>
              <a:rPr lang="en-US" altLang="en-US" dirty="0">
                <a:latin typeface="Times New Roman" panose="02020603050405020304"/>
                <a:cs typeface="Times New Roman" panose="02020603050405020304"/>
              </a:rPr>
              <a:t>Evolution: Handcrafted features → Deep Learning → Hybrid models</a:t>
            </a:r>
          </a:p>
          <a:p>
            <a:pPr marL="469900" marR="6350" indent="-457200" algn="just">
              <a:lnSpc>
                <a:spcPts val="3170"/>
              </a:lnSpc>
              <a:spcBef>
                <a:spcPts val="205"/>
              </a:spcBef>
              <a:buFont typeface="Wingdings" panose="05000000000000000000" charset="0"/>
              <a:buChar char="Ø"/>
            </a:pPr>
            <a:r>
              <a:rPr lang="en-US" altLang="en-US" dirty="0">
                <a:latin typeface="Times New Roman" panose="02020603050405020304"/>
                <a:cs typeface="Times New Roman" panose="02020603050405020304"/>
              </a:rPr>
              <a:t>Research Gap: CNNs lose spatial info; no comprehensive hybrid evaluation</a:t>
            </a:r>
          </a:p>
        </p:txBody>
      </p:sp>
      <p:pic>
        <p:nvPicPr>
          <p:cNvPr id="5" name="Picture 4">
            <a:extLst>
              <a:ext uri="{FF2B5EF4-FFF2-40B4-BE49-F238E27FC236}">
                <a16:creationId xmlns:a16="http://schemas.microsoft.com/office/drawing/2014/main" id="{B878A43F-F58B-F97B-3A4F-2A76EE97B5AE}"/>
              </a:ext>
            </a:extLst>
          </p:cNvPr>
          <p:cNvPicPr>
            <a:picLocks noChangeAspect="1"/>
          </p:cNvPicPr>
          <p:nvPr/>
        </p:nvPicPr>
        <p:blipFill>
          <a:blip r:embed="rId2"/>
          <a:stretch>
            <a:fillRect/>
          </a:stretch>
        </p:blipFill>
        <p:spPr>
          <a:xfrm>
            <a:off x="2057400" y="3048000"/>
            <a:ext cx="5181600" cy="2590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9180" y="296545"/>
            <a:ext cx="4406900" cy="520065"/>
          </a:xfrm>
          <a:prstGeom prst="rect">
            <a:avLst/>
          </a:prstGeom>
        </p:spPr>
        <p:txBody>
          <a:bodyPr vert="horz" wrap="square" lIns="0" tIns="12700" rIns="0" bIns="0" rtlCol="0">
            <a:spAutoFit/>
          </a:bodyPr>
          <a:lstStyle/>
          <a:p>
            <a:pPr marL="12700">
              <a:lnSpc>
                <a:spcPct val="100000"/>
              </a:lnSpc>
              <a:spcBef>
                <a:spcPts val="100"/>
              </a:spcBef>
              <a:tabLst>
                <a:tab pos="959485" algn="l"/>
              </a:tabLst>
            </a:pPr>
            <a:r>
              <a:rPr lang="en-US" sz="3300"/>
              <a:t>METHODS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t>4</a:t>
            </a:fld>
            <a:endParaRPr spc="-50" dirty="0"/>
          </a:p>
        </p:txBody>
      </p:sp>
      <p:sp>
        <p:nvSpPr>
          <p:cNvPr id="3" name="object 3"/>
          <p:cNvSpPr txBox="1"/>
          <p:nvPr/>
        </p:nvSpPr>
        <p:spPr>
          <a:xfrm>
            <a:off x="246798" y="852469"/>
            <a:ext cx="9789190" cy="5900461"/>
          </a:xfrm>
          <a:prstGeom prst="rect">
            <a:avLst/>
          </a:prstGeom>
        </p:spPr>
        <p:txBody>
          <a:bodyPr vert="horz" wrap="square" lIns="0" tIns="11430" rIns="0" bIns="0" rtlCol="0">
            <a:spAutoFit/>
          </a:bodyPr>
          <a:lstStyle/>
          <a:p>
            <a:pPr marL="12700" indent="0">
              <a:lnSpc>
                <a:spcPts val="3175"/>
              </a:lnSpc>
              <a:spcBef>
                <a:spcPts val="90"/>
              </a:spcBef>
              <a:buNone/>
              <a:tabLst>
                <a:tab pos="514350" algn="l"/>
              </a:tabLst>
            </a:pPr>
            <a:endParaRPr sz="2800" b="1" dirty="0">
              <a:latin typeface="Times New Roman" panose="02020603050405020304"/>
              <a:cs typeface="Times New Roman" panose="02020603050405020304"/>
            </a:endParaRPr>
          </a:p>
          <a:p>
            <a:pPr marL="12700" indent="0">
              <a:lnSpc>
                <a:spcPts val="3175"/>
              </a:lnSpc>
              <a:spcBef>
                <a:spcPts val="90"/>
              </a:spcBef>
              <a:buNone/>
              <a:tabLst>
                <a:tab pos="514350" algn="l"/>
              </a:tabLst>
            </a:pPr>
            <a:r>
              <a:rPr lang="en-US" altLang="" b="1" dirty="0">
                <a:latin typeface="Times New Roman" panose="02020603050405020304"/>
                <a:cs typeface="Times New Roman" panose="02020603050405020304"/>
              </a:rPr>
              <a:t>System Pipeline:</a:t>
            </a:r>
          </a:p>
          <a:p>
            <a:pPr marL="469900" indent="-457200">
              <a:lnSpc>
                <a:spcPts val="3175"/>
              </a:lnSpc>
              <a:spcBef>
                <a:spcPts val="90"/>
              </a:spcBef>
              <a:buFont typeface="Wingdings" panose="05000000000000000000" charset="0"/>
              <a:buChar char="Ø"/>
              <a:tabLst>
                <a:tab pos="514350" algn="l"/>
              </a:tabLst>
            </a:pPr>
            <a:r>
              <a:rPr lang="en-US" altLang="en-US" dirty="0">
                <a:latin typeface="Times New Roman" panose="02020603050405020304"/>
                <a:cs typeface="Times New Roman" panose="02020603050405020304"/>
              </a:rPr>
              <a:t>Input video frames are extracted and face detection is applied to isolate</a:t>
            </a:r>
          </a:p>
          <a:p>
            <a:pPr marL="12700">
              <a:lnSpc>
                <a:spcPts val="3175"/>
              </a:lnSpc>
              <a:spcBef>
                <a:spcPts val="90"/>
              </a:spcBef>
              <a:tabLst>
                <a:tab pos="514350" algn="l"/>
              </a:tabLst>
            </a:pPr>
            <a:r>
              <a:rPr lang="en-US" altLang="en-US" dirty="0">
                <a:latin typeface="Times New Roman" panose="02020603050405020304"/>
                <a:cs typeface="Times New Roman" panose="02020603050405020304"/>
              </a:rPr>
              <a:t>        facial regions.</a:t>
            </a:r>
          </a:p>
          <a:p>
            <a:pPr marL="469900" indent="-457200">
              <a:lnSpc>
                <a:spcPts val="3175"/>
              </a:lnSpc>
              <a:spcBef>
                <a:spcPts val="90"/>
              </a:spcBef>
              <a:buFont typeface="Wingdings" panose="05000000000000000000" charset="0"/>
              <a:buChar char="Ø"/>
              <a:tabLst>
                <a:tab pos="514350" algn="l"/>
              </a:tabLst>
            </a:pPr>
            <a:r>
              <a:rPr lang="en-US" altLang="en-US" dirty="0">
                <a:latin typeface="Times New Roman" panose="02020603050405020304"/>
                <a:cs typeface="Times New Roman" panose="02020603050405020304"/>
              </a:rPr>
              <a:t>Faces are resized and normalized for consistency across the dataset.</a:t>
            </a:r>
          </a:p>
          <a:p>
            <a:pPr marL="469900" indent="-457200">
              <a:lnSpc>
                <a:spcPts val="3175"/>
              </a:lnSpc>
              <a:spcBef>
                <a:spcPts val="90"/>
              </a:spcBef>
              <a:buFont typeface="Wingdings" panose="05000000000000000000" charset="0"/>
              <a:buChar char="Ø"/>
              <a:tabLst>
                <a:tab pos="514350" algn="l"/>
              </a:tabLst>
            </a:pPr>
            <a:r>
              <a:rPr lang="en-US" altLang="en-US" dirty="0">
                <a:latin typeface="Times New Roman" panose="02020603050405020304"/>
                <a:cs typeface="Times New Roman" panose="02020603050405020304"/>
              </a:rPr>
              <a:t>CNN model extracts hierarchical features: textures, edges,</a:t>
            </a:r>
          </a:p>
          <a:p>
            <a:pPr marL="12700">
              <a:lnSpc>
                <a:spcPts val="3175"/>
              </a:lnSpc>
              <a:spcBef>
                <a:spcPts val="90"/>
              </a:spcBef>
              <a:tabLst>
                <a:tab pos="514350" algn="l"/>
              </a:tabLst>
            </a:pPr>
            <a:r>
              <a:rPr lang="en-US" altLang="en-US" dirty="0">
                <a:latin typeface="Times New Roman" panose="02020603050405020304"/>
                <a:cs typeface="Times New Roman" panose="02020603050405020304"/>
              </a:rPr>
              <a:t>         and visual artifacts.</a:t>
            </a:r>
          </a:p>
          <a:p>
            <a:pPr marL="12700" indent="0">
              <a:lnSpc>
                <a:spcPts val="3175"/>
              </a:lnSpc>
              <a:spcBef>
                <a:spcPts val="90"/>
              </a:spcBef>
              <a:buFont typeface="Wingdings" panose="05000000000000000000" charset="0"/>
              <a:buNone/>
              <a:tabLst>
                <a:tab pos="514350" algn="l"/>
              </a:tabLst>
            </a:pPr>
            <a:r>
              <a:rPr lang="en-US" altLang="en-US" b="1" dirty="0">
                <a:latin typeface="Times New Roman" panose="02020603050405020304"/>
                <a:cs typeface="Times New Roman" panose="02020603050405020304"/>
              </a:rPr>
              <a:t>Classification:</a:t>
            </a:r>
          </a:p>
          <a:p>
            <a:pPr marL="12700" indent="0">
              <a:lnSpc>
                <a:spcPts val="3175"/>
              </a:lnSpc>
              <a:spcBef>
                <a:spcPts val="90"/>
              </a:spcBef>
              <a:buFont typeface="Wingdings" panose="05000000000000000000" charset="0"/>
              <a:buChar char="Ø"/>
              <a:tabLst>
                <a:tab pos="514350" algn="l"/>
              </a:tabLst>
            </a:pPr>
            <a:r>
              <a:rPr lang="en-US" altLang="en-US" dirty="0">
                <a:latin typeface="Times New Roman" panose="02020603050405020304"/>
                <a:cs typeface="Times New Roman" panose="02020603050405020304"/>
              </a:rPr>
              <a:t>Capsule Network preserves spatial relationships between facial components.</a:t>
            </a:r>
          </a:p>
          <a:p>
            <a:pPr marL="12700" indent="0">
              <a:lnSpc>
                <a:spcPts val="3175"/>
              </a:lnSpc>
              <a:spcBef>
                <a:spcPts val="90"/>
              </a:spcBef>
              <a:buFont typeface="Wingdings" panose="05000000000000000000" charset="0"/>
              <a:buChar char="Ø"/>
              <a:tabLst>
                <a:tab pos="514350" algn="l"/>
              </a:tabLst>
            </a:pPr>
            <a:r>
              <a:rPr lang="en-US" altLang="en-US" dirty="0">
                <a:latin typeface="Times New Roman" panose="02020603050405020304"/>
                <a:cs typeface="Times New Roman" panose="02020603050405020304"/>
              </a:rPr>
              <a:t>Fully connected layer classifies output as Real or Fake.</a:t>
            </a:r>
          </a:p>
          <a:p>
            <a:pPr marL="12700" indent="0">
              <a:lnSpc>
                <a:spcPts val="3175"/>
              </a:lnSpc>
              <a:spcBef>
                <a:spcPts val="90"/>
              </a:spcBef>
              <a:buFont typeface="Wingdings" panose="05000000000000000000" charset="0"/>
              <a:buNone/>
              <a:tabLst>
                <a:tab pos="514350" algn="l"/>
              </a:tabLst>
            </a:pPr>
            <a:r>
              <a:rPr lang="en-US" altLang="en-US" dirty="0">
                <a:latin typeface="Times New Roman" panose="02020603050405020304"/>
                <a:cs typeface="Times New Roman" panose="02020603050405020304"/>
              </a:rPr>
              <a:t>Datasets: </a:t>
            </a:r>
            <a:r>
              <a:rPr lang="en-US" altLang="en-US" dirty="0" err="1">
                <a:latin typeface="Times New Roman" panose="02020603050405020304"/>
                <a:cs typeface="Times New Roman" panose="02020603050405020304"/>
              </a:rPr>
              <a:t>FaceForensics</a:t>
            </a:r>
            <a:r>
              <a:rPr lang="en-US" altLang="en-US" dirty="0">
                <a:latin typeface="Times New Roman" panose="02020603050405020304"/>
                <a:cs typeface="Times New Roman" panose="02020603050405020304"/>
              </a:rPr>
              <a:t>++ and DFDC (80:20 train/test split).</a:t>
            </a:r>
          </a:p>
          <a:p>
            <a:pPr marL="12700" indent="0">
              <a:lnSpc>
                <a:spcPts val="3175"/>
              </a:lnSpc>
              <a:spcBef>
                <a:spcPts val="90"/>
              </a:spcBef>
              <a:buFont typeface="Wingdings" panose="05000000000000000000" charset="0"/>
              <a:buNone/>
              <a:tabLst>
                <a:tab pos="514350" algn="l"/>
              </a:tabLst>
            </a:pPr>
            <a:r>
              <a:rPr lang="en-US" altLang="en-US" dirty="0">
                <a:latin typeface="Times New Roman" panose="02020603050405020304"/>
                <a:cs typeface="Times New Roman" panose="02020603050405020304"/>
              </a:rPr>
              <a:t>Metrics: Accuracy, Precision, Recall, F1-Score.</a:t>
            </a:r>
          </a:p>
          <a:p>
            <a:pPr marL="12700" indent="0">
              <a:lnSpc>
                <a:spcPts val="3175"/>
              </a:lnSpc>
              <a:spcBef>
                <a:spcPts val="90"/>
              </a:spcBef>
              <a:buFont typeface="Wingdings" panose="05000000000000000000" charset="0"/>
              <a:buNone/>
              <a:tabLst>
                <a:tab pos="514350" algn="l"/>
              </a:tabLst>
            </a:pPr>
            <a:endParaRPr lang="en-US" altLang="en-US" sz="2650" dirty="0">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Char char="Ø"/>
              <a:tabLst>
                <a:tab pos="514350" algn="l"/>
              </a:tabLst>
            </a:pPr>
            <a:endParaRPr lang="en-US" altLang="en-US" sz="2650" dirty="0">
              <a:latin typeface="Times New Roman" panose="02020603050405020304"/>
              <a:cs typeface="Times New Roman" panose="02020603050405020304"/>
            </a:endParaRPr>
          </a:p>
        </p:txBody>
      </p:sp>
      <p:pic>
        <p:nvPicPr>
          <p:cNvPr id="5" name="Picture 4">
            <a:extLst>
              <a:ext uri="{FF2B5EF4-FFF2-40B4-BE49-F238E27FC236}">
                <a16:creationId xmlns:a16="http://schemas.microsoft.com/office/drawing/2014/main" id="{091C359A-A7DD-1576-8932-6E88240F29B6}"/>
              </a:ext>
            </a:extLst>
          </p:cNvPr>
          <p:cNvPicPr>
            <a:picLocks noChangeAspect="1"/>
          </p:cNvPicPr>
          <p:nvPr/>
        </p:nvPicPr>
        <p:blipFill>
          <a:blip r:embed="rId2"/>
          <a:stretch>
            <a:fillRect/>
          </a:stretch>
        </p:blipFill>
        <p:spPr>
          <a:xfrm>
            <a:off x="7467600" y="1371600"/>
            <a:ext cx="2344002" cy="585548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44" y="305043"/>
            <a:ext cx="3592829" cy="552450"/>
          </a:xfrm>
          <a:prstGeom prst="rect">
            <a:avLst/>
          </a:prstGeom>
        </p:spPr>
        <p:txBody>
          <a:bodyPr vert="horz" wrap="square" lIns="0" tIns="14604" rIns="0" bIns="0" rtlCol="0">
            <a:spAutoFit/>
          </a:bodyPr>
          <a:lstStyle/>
          <a:p>
            <a:pPr marL="12700">
              <a:lnSpc>
                <a:spcPct val="100000"/>
              </a:lnSpc>
              <a:spcBef>
                <a:spcPts val="115"/>
              </a:spcBef>
              <a:tabLst>
                <a:tab pos="1097280" algn="l"/>
              </a:tabLst>
            </a:pPr>
            <a:r>
              <a:rPr lang="en-US" spc="-10" dirty="0"/>
              <a:t>RESULTS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t>5</a:t>
            </a:fld>
            <a:endParaRPr spc="-50" dirty="0"/>
          </a:p>
        </p:txBody>
      </p:sp>
      <p:sp>
        <p:nvSpPr>
          <p:cNvPr id="3" name="object 3"/>
          <p:cNvSpPr txBox="1"/>
          <p:nvPr/>
        </p:nvSpPr>
        <p:spPr>
          <a:xfrm>
            <a:off x="226645" y="1209567"/>
            <a:ext cx="9603155" cy="5028556"/>
          </a:xfrm>
          <a:prstGeom prst="rect">
            <a:avLst/>
          </a:prstGeom>
        </p:spPr>
        <p:txBody>
          <a:bodyPr vert="horz" wrap="square" lIns="0" tIns="11430" rIns="0" bIns="0" rtlCol="0">
            <a:spAutoFit/>
          </a:bodyPr>
          <a:lstStyle/>
          <a:p>
            <a:pPr marL="12700" indent="0">
              <a:lnSpc>
                <a:spcPts val="3175"/>
              </a:lnSpc>
              <a:spcBef>
                <a:spcPts val="90"/>
              </a:spcBef>
              <a:buNone/>
              <a:tabLst>
                <a:tab pos="514350" algn="l"/>
              </a:tabLst>
            </a:pPr>
            <a:endParaRPr lang="en-US" altLang="en-US" b="1" dirty="0">
              <a:latin typeface="Times New Roman" panose="02020603050405020304"/>
              <a:cs typeface="Times New Roman" panose="02020603050405020304"/>
            </a:endParaRPr>
          </a:p>
          <a:p>
            <a:pPr marL="12700" indent="0">
              <a:lnSpc>
                <a:spcPts val="3175"/>
              </a:lnSpc>
              <a:spcBef>
                <a:spcPts val="90"/>
              </a:spcBef>
              <a:buNone/>
              <a:tabLst>
                <a:tab pos="514350" algn="l"/>
              </a:tabLst>
            </a:pPr>
            <a:r>
              <a:rPr lang="en-US" altLang="en-US" b="1" dirty="0">
                <a:latin typeface="Times New Roman" panose="02020603050405020304"/>
                <a:cs typeface="Times New Roman" panose="02020603050405020304"/>
              </a:rPr>
              <a:t>CNN Model Results</a:t>
            </a:r>
          </a:p>
          <a:p>
            <a:pPr marL="469900" indent="-457200">
              <a:lnSpc>
                <a:spcPts val="3175"/>
              </a:lnSpc>
              <a:spcBef>
                <a:spcPts val="90"/>
              </a:spcBef>
              <a:buFont typeface="Wingdings" panose="05000000000000000000" charset="0"/>
              <a:buChar char="Ø"/>
              <a:tabLst>
                <a:tab pos="514350" algn="l"/>
              </a:tabLst>
            </a:pPr>
            <a:r>
              <a:rPr lang="en-US" altLang="en-US" b="0" dirty="0">
                <a:latin typeface="Times New Roman" panose="02020603050405020304"/>
                <a:cs typeface="Times New Roman" panose="02020603050405020304"/>
              </a:rPr>
              <a:t>Effectively captures visual artifacts and texture irregularities.</a:t>
            </a:r>
          </a:p>
          <a:p>
            <a:pPr marL="469900" indent="-457200">
              <a:lnSpc>
                <a:spcPts val="3175"/>
              </a:lnSpc>
              <a:spcBef>
                <a:spcPts val="90"/>
              </a:spcBef>
              <a:buFont typeface="Wingdings" panose="05000000000000000000" charset="0"/>
              <a:buChar char="Ø"/>
              <a:tabLst>
                <a:tab pos="514350" algn="l"/>
              </a:tabLst>
            </a:pPr>
            <a:r>
              <a:rPr lang="en-US" altLang="en-US" b="0" dirty="0">
                <a:latin typeface="Times New Roman" panose="02020603050405020304"/>
                <a:cs typeface="Times New Roman" panose="02020603050405020304"/>
              </a:rPr>
              <a:t>Pooling operations cause loss of spatial information between facial features.</a:t>
            </a:r>
          </a:p>
          <a:p>
            <a:pPr marL="469900" indent="-457200">
              <a:lnSpc>
                <a:spcPts val="3175"/>
              </a:lnSpc>
              <a:spcBef>
                <a:spcPts val="90"/>
              </a:spcBef>
              <a:buFont typeface="Wingdings" panose="05000000000000000000" charset="0"/>
              <a:buChar char="Ø"/>
              <a:tabLst>
                <a:tab pos="514350" algn="l"/>
              </a:tabLst>
            </a:pPr>
            <a:r>
              <a:rPr lang="en-US" altLang="en-US" b="0" dirty="0">
                <a:latin typeface="Times New Roman" panose="02020603050405020304"/>
                <a:cs typeface="Times New Roman" panose="02020603050405020304"/>
              </a:rPr>
              <a:t>Accuracy: 89.1% | Precision: 88.3% | Recall: 87.9% | F1: 88.1%</a:t>
            </a:r>
          </a:p>
          <a:p>
            <a:pPr marL="469900" indent="-457200">
              <a:lnSpc>
                <a:spcPts val="3175"/>
              </a:lnSpc>
              <a:spcBef>
                <a:spcPts val="90"/>
              </a:spcBef>
              <a:buFont typeface="Wingdings" panose="05000000000000000000" charset="0"/>
              <a:buChar char="Ø"/>
              <a:tabLst>
                <a:tab pos="514350" algn="l"/>
              </a:tabLst>
            </a:pPr>
            <a:r>
              <a:rPr lang="en-US" altLang="en-US" b="0" dirty="0">
                <a:latin typeface="Times New Roman" panose="02020603050405020304"/>
                <a:cs typeface="Times New Roman" panose="02020603050405020304"/>
              </a:rPr>
              <a:t>Best on: </a:t>
            </a:r>
            <a:r>
              <a:rPr lang="en-US" altLang="en-US" b="0" dirty="0" err="1">
                <a:latin typeface="Times New Roman" panose="02020603050405020304"/>
                <a:cs typeface="Times New Roman" panose="02020603050405020304"/>
              </a:rPr>
              <a:t>FaceForensics</a:t>
            </a:r>
            <a:r>
              <a:rPr lang="en-US" altLang="en-US" b="0" dirty="0">
                <a:latin typeface="Times New Roman" panose="02020603050405020304"/>
                <a:cs typeface="Times New Roman" panose="02020603050405020304"/>
              </a:rPr>
              <a:t>++ dataset.</a:t>
            </a:r>
          </a:p>
          <a:p>
            <a:pPr marL="469900" indent="-457200">
              <a:lnSpc>
                <a:spcPts val="3175"/>
              </a:lnSpc>
              <a:spcBef>
                <a:spcPts val="90"/>
              </a:spcBef>
              <a:buFont typeface="Wingdings" panose="05000000000000000000" charset="0"/>
              <a:buChar char="Ø"/>
              <a:tabLst>
                <a:tab pos="514350" algn="l"/>
              </a:tabLst>
            </a:pPr>
            <a:endParaRPr lang="en-US" altLang="en-US" b="0" dirty="0">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None/>
              <a:tabLst>
                <a:tab pos="514350" algn="l"/>
              </a:tabLst>
            </a:pPr>
            <a:r>
              <a:rPr lang="en-US" altLang="en-US" b="1" dirty="0">
                <a:latin typeface="Times New Roman" panose="02020603050405020304"/>
                <a:cs typeface="Times New Roman" panose="02020603050405020304"/>
              </a:rPr>
              <a:t>Hybrid CNN–Capsule Model</a:t>
            </a:r>
          </a:p>
          <a:p>
            <a:pPr marL="12700" indent="0">
              <a:lnSpc>
                <a:spcPts val="3175"/>
              </a:lnSpc>
              <a:spcBef>
                <a:spcPts val="90"/>
              </a:spcBef>
              <a:buFont typeface="Wingdings" panose="05000000000000000000" charset="0"/>
              <a:buChar char="Ø"/>
              <a:tabLst>
                <a:tab pos="514350" algn="l"/>
              </a:tabLst>
            </a:pPr>
            <a:r>
              <a:rPr lang="en-US" altLang="en-US" b="0" dirty="0">
                <a:latin typeface="Times New Roman" panose="02020603050405020304"/>
                <a:cs typeface="Times New Roman" panose="02020603050405020304"/>
              </a:rPr>
              <a:t>Accuracy: 92.4% | Precision: 91.2% | Recall: 90.8% | F1: 91.0%</a:t>
            </a:r>
          </a:p>
          <a:p>
            <a:pPr marL="12700" indent="0">
              <a:lnSpc>
                <a:spcPts val="3175"/>
              </a:lnSpc>
              <a:spcBef>
                <a:spcPts val="90"/>
              </a:spcBef>
              <a:buFont typeface="Wingdings" panose="05000000000000000000" charset="0"/>
              <a:buChar char="Ø"/>
              <a:tabLst>
                <a:tab pos="514350" algn="l"/>
              </a:tabLst>
            </a:pPr>
            <a:r>
              <a:rPr lang="en-US" altLang="en-US" b="0" dirty="0">
                <a:latin typeface="Times New Roman" panose="02020603050405020304"/>
                <a:cs typeface="Times New Roman" panose="02020603050405020304"/>
              </a:rPr>
              <a:t>Outperforms standalone CNN and Capsule models across both datasets.</a:t>
            </a:r>
          </a:p>
          <a:p>
            <a:pPr marL="12700" indent="0">
              <a:lnSpc>
                <a:spcPts val="3175"/>
              </a:lnSpc>
              <a:spcBef>
                <a:spcPts val="90"/>
              </a:spcBef>
              <a:buFont typeface="Wingdings" panose="05000000000000000000" charset="0"/>
              <a:buChar char="Ø"/>
              <a:tabLst>
                <a:tab pos="514350" algn="l"/>
              </a:tabLst>
            </a:pPr>
            <a:r>
              <a:rPr lang="en-US" altLang="en-US" b="0" dirty="0">
                <a:latin typeface="Times New Roman" panose="02020603050405020304"/>
                <a:cs typeface="Times New Roman" panose="02020603050405020304"/>
              </a:rPr>
              <a:t>Stable convergence with minimal overfitting across training epochs.</a:t>
            </a:r>
          </a:p>
          <a:p>
            <a:pPr marL="12700" indent="0">
              <a:lnSpc>
                <a:spcPts val="3175"/>
              </a:lnSpc>
              <a:spcBef>
                <a:spcPts val="90"/>
              </a:spcBef>
              <a:buFont typeface="Wingdings" panose="05000000000000000000" charset="0"/>
              <a:buChar char="Ø"/>
              <a:tabLst>
                <a:tab pos="514350" algn="l"/>
              </a:tabLst>
            </a:pPr>
            <a:r>
              <a:rPr lang="en-US" altLang="en-US" b="0" dirty="0">
                <a:latin typeface="Times New Roman" panose="02020603050405020304"/>
                <a:cs typeface="Times New Roman" panose="02020603050405020304"/>
              </a:rPr>
              <a:t>Strong generalization to unseen manipulation types.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098" y="278373"/>
            <a:ext cx="4933315" cy="552450"/>
          </a:xfrm>
          <a:prstGeom prst="rect">
            <a:avLst/>
          </a:prstGeom>
        </p:spPr>
        <p:txBody>
          <a:bodyPr vert="horz" wrap="square" lIns="0" tIns="14604" rIns="0" bIns="0" rtlCol="0">
            <a:spAutoFit/>
          </a:bodyPr>
          <a:lstStyle/>
          <a:p>
            <a:pPr marL="890270">
              <a:lnSpc>
                <a:spcPct val="100000"/>
              </a:lnSpc>
              <a:spcBef>
                <a:spcPts val="115"/>
              </a:spcBef>
            </a:pPr>
            <a:r>
              <a:rPr lang="en-US" spc="-20" dirty="0"/>
              <a:t>RESULTS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t>6</a:t>
            </a:fld>
            <a:endParaRPr spc="-50" dirty="0"/>
          </a:p>
        </p:txBody>
      </p:sp>
      <p:sp>
        <p:nvSpPr>
          <p:cNvPr id="3" name="object 3"/>
          <p:cNvSpPr txBox="1"/>
          <p:nvPr/>
        </p:nvSpPr>
        <p:spPr>
          <a:xfrm>
            <a:off x="304800" y="1066800"/>
            <a:ext cx="9424035" cy="6221095"/>
          </a:xfrm>
          <a:prstGeom prst="rect">
            <a:avLst/>
          </a:prstGeom>
        </p:spPr>
        <p:txBody>
          <a:bodyPr vert="horz" wrap="square" lIns="0" tIns="12700" rIns="0" bIns="0" rtlCol="0">
            <a:noAutofit/>
          </a:bodyPr>
          <a:lstStyle/>
          <a:p>
            <a:pPr marL="12700" marR="5080">
              <a:lnSpc>
                <a:spcPct val="101000"/>
              </a:lnSpc>
              <a:spcBef>
                <a:spcPts val="100"/>
              </a:spcBef>
            </a:pPr>
            <a:endParaRPr lang="en-US" altLang="en-US" b="1" dirty="0">
              <a:latin typeface="Times New Roman" panose="02020603050405020304"/>
              <a:cs typeface="Times New Roman" panose="02020603050405020304"/>
            </a:endParaRPr>
          </a:p>
          <a:p>
            <a:pPr marL="12700" marR="5080">
              <a:lnSpc>
                <a:spcPct val="150000"/>
              </a:lnSpc>
              <a:spcBef>
                <a:spcPts val="100"/>
              </a:spcBef>
            </a:pPr>
            <a:r>
              <a:rPr lang="en-US" altLang="en-US" b="1" dirty="0">
                <a:latin typeface="Times New Roman" panose="02020603050405020304"/>
                <a:cs typeface="Times New Roman" panose="02020603050405020304"/>
              </a:rPr>
              <a:t>Capsule Network Results</a:t>
            </a:r>
          </a:p>
          <a:p>
            <a:pPr marL="469900" marR="5080" indent="-457200">
              <a:lnSpc>
                <a:spcPct val="150000"/>
              </a:lnSpc>
              <a:spcBef>
                <a:spcPts val="100"/>
              </a:spcBef>
              <a:buFont typeface="Wingdings" panose="05000000000000000000" charset="0"/>
              <a:buChar char="Ø"/>
            </a:pPr>
            <a:r>
              <a:rPr lang="en-US" altLang="en-US" b="0" dirty="0">
                <a:latin typeface="Times New Roman" panose="02020603050405020304"/>
                <a:cs typeface="Times New Roman" panose="02020603050405020304"/>
              </a:rPr>
              <a:t>Preserves spatial hierarchies and part-whole relationships between facial features.</a:t>
            </a:r>
          </a:p>
          <a:p>
            <a:pPr marL="469900" marR="5080" indent="-457200">
              <a:lnSpc>
                <a:spcPct val="150000"/>
              </a:lnSpc>
              <a:spcBef>
                <a:spcPts val="100"/>
              </a:spcBef>
              <a:buFont typeface="Wingdings" panose="05000000000000000000" charset="0"/>
              <a:buChar char="Ø"/>
            </a:pPr>
            <a:r>
              <a:rPr lang="en-US" altLang="en-US" b="0" dirty="0">
                <a:latin typeface="Times New Roman" panose="02020603050405020304"/>
                <a:cs typeface="Times New Roman" panose="02020603050405020304"/>
              </a:rPr>
              <a:t>Better detection of subtle structural inconsistencies missed by CNNs.</a:t>
            </a:r>
          </a:p>
          <a:p>
            <a:pPr marL="469900" marR="5080" indent="-457200">
              <a:lnSpc>
                <a:spcPct val="150000"/>
              </a:lnSpc>
              <a:spcBef>
                <a:spcPts val="100"/>
              </a:spcBef>
              <a:buFont typeface="Wingdings" panose="05000000000000000000" charset="0"/>
              <a:buChar char="Ø"/>
            </a:pPr>
            <a:r>
              <a:rPr lang="en-US" altLang="en-US" b="0" dirty="0">
                <a:latin typeface="Times New Roman" panose="02020603050405020304"/>
                <a:cs typeface="Times New Roman" panose="02020603050405020304"/>
              </a:rPr>
              <a:t>Accuracy: 90.7% | Precision: 89.5% | Recall: 89.1% | F1: 89.3%</a:t>
            </a:r>
            <a:endParaRPr lang="en-US" altLang="en-US" dirty="0">
              <a:latin typeface="Times New Roman" panose="02020603050405020304"/>
              <a:cs typeface="Times New Roman" panose="02020603050405020304"/>
            </a:endParaRPr>
          </a:p>
          <a:p>
            <a:pPr marL="12700" marR="5080">
              <a:lnSpc>
                <a:spcPct val="101000"/>
              </a:lnSpc>
              <a:spcBef>
                <a:spcPts val="100"/>
              </a:spcBef>
            </a:pPr>
            <a:endParaRPr lang="en-US" altLang="en-US" sz="2400" b="0" dirty="0">
              <a:latin typeface="Times New Roman" panose="02020603050405020304"/>
              <a:cs typeface="Times New Roman" panose="02020603050405020304"/>
            </a:endParaRPr>
          </a:p>
          <a:p>
            <a:pPr marL="469900" marR="5080" indent="-457200">
              <a:lnSpc>
                <a:spcPct val="101000"/>
              </a:lnSpc>
              <a:spcBef>
                <a:spcPts val="100"/>
              </a:spcBef>
              <a:buFont typeface="Wingdings" panose="05000000000000000000" charset="0"/>
              <a:buChar char="Ø"/>
            </a:pPr>
            <a:endParaRPr lang="en-US" altLang="en-US" sz="2400" b="0" dirty="0">
              <a:latin typeface="Times New Roman" panose="02020603050405020304"/>
              <a:cs typeface="Times New Roman" panose="02020603050405020304"/>
            </a:endParaRPr>
          </a:p>
          <a:p>
            <a:pPr marL="469900" marR="5080" indent="-457200">
              <a:lnSpc>
                <a:spcPct val="101000"/>
              </a:lnSpc>
              <a:spcBef>
                <a:spcPts val="100"/>
              </a:spcBef>
              <a:buFont typeface="Wingdings" panose="05000000000000000000" charset="0"/>
              <a:buChar char="Ø"/>
            </a:pPr>
            <a:endParaRPr lang="en-US" altLang="en-US" sz="2400" b="0" dirty="0">
              <a:latin typeface="Times New Roman" panose="02020603050405020304"/>
              <a:cs typeface="Times New Roman" panose="02020603050405020304"/>
            </a:endParaRPr>
          </a:p>
        </p:txBody>
      </p:sp>
      <p:pic>
        <p:nvPicPr>
          <p:cNvPr id="5" name="Picture 4">
            <a:extLst>
              <a:ext uri="{FF2B5EF4-FFF2-40B4-BE49-F238E27FC236}">
                <a16:creationId xmlns:a16="http://schemas.microsoft.com/office/drawing/2014/main" id="{0943344F-2CF6-099B-EDAB-F8F0846D5D81}"/>
              </a:ext>
            </a:extLst>
          </p:cNvPr>
          <p:cNvPicPr>
            <a:picLocks noChangeAspect="1"/>
          </p:cNvPicPr>
          <p:nvPr/>
        </p:nvPicPr>
        <p:blipFill>
          <a:blip r:embed="rId2"/>
          <a:stretch>
            <a:fillRect/>
          </a:stretch>
        </p:blipFill>
        <p:spPr>
          <a:xfrm>
            <a:off x="1371600" y="3505200"/>
            <a:ext cx="6587289" cy="3429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278130"/>
            <a:ext cx="6692900" cy="626745"/>
          </a:xfrm>
          <a:prstGeom prst="rect">
            <a:avLst/>
          </a:prstGeom>
        </p:spPr>
        <p:txBody>
          <a:bodyPr vert="horz" wrap="square" lIns="0" tIns="14604" rIns="0" bIns="0" rtlCol="0">
            <a:noAutofit/>
          </a:bodyPr>
          <a:lstStyle/>
          <a:p>
            <a:pPr marL="12700">
              <a:lnSpc>
                <a:spcPct val="100000"/>
              </a:lnSpc>
              <a:spcBef>
                <a:spcPts val="115"/>
              </a:spcBef>
            </a:pPr>
            <a:r>
              <a:rPr lang="en-US" sz="2800" spc="-20" dirty="0"/>
              <a:t>CHALLENGES VS FUTURE DIRECTIONS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t>7</a:t>
            </a:fld>
            <a:endParaRPr spc="-50" dirty="0"/>
          </a:p>
        </p:txBody>
      </p:sp>
      <p:sp>
        <p:nvSpPr>
          <p:cNvPr id="10" name="ChallengesHeader"/>
          <p:cNvSpPr txBox="1"/>
          <p:nvPr/>
        </p:nvSpPr>
        <p:spPr>
          <a:xfrm>
            <a:off x="300000" y="1100000"/>
            <a:ext cx="4500000" cy="450000"/>
          </a:xfrm>
          <a:prstGeom prst="rect">
            <a:avLst/>
          </a:prstGeom>
          <a:solidFill>
            <a:srgbClr val="C0392B"/>
          </a:solidFill>
        </p:spPr>
        <p:txBody>
          <a:bodyPr wrap="square" lIns="91440" tIns="45720" rIns="91440" bIns="45720"/>
          <a:lstStyle/>
          <a:p>
            <a:pPr algn="ctr"/>
            <a:r>
              <a:rPr lang="en-US" sz="2000" b="1" dirty="0">
                <a:solidFill>
                  <a:srgbClr val="FFFFFF"/>
                </a:solidFill>
              </a:rPr>
              <a:t>Key Challenges</a:t>
            </a:r>
          </a:p>
        </p:txBody>
      </p:sp>
      <p:sp>
        <p:nvSpPr>
          <p:cNvPr id="11" name="FutureHeader"/>
          <p:cNvSpPr txBox="1"/>
          <p:nvPr/>
        </p:nvSpPr>
        <p:spPr>
          <a:xfrm>
            <a:off x="5100000" y="1100000"/>
            <a:ext cx="4500000" cy="450000"/>
          </a:xfrm>
          <a:prstGeom prst="rect">
            <a:avLst/>
          </a:prstGeom>
          <a:solidFill>
            <a:srgbClr val="C0392B"/>
          </a:solidFill>
        </p:spPr>
        <p:txBody>
          <a:bodyPr wrap="square" lIns="91440" tIns="45720" rIns="91440" bIns="45720"/>
          <a:lstStyle/>
          <a:p>
            <a:pPr algn="ctr"/>
            <a:r>
              <a:rPr lang="en-US" sz="2000" b="1" dirty="0">
                <a:solidFill>
                  <a:srgbClr val="FFFFFF"/>
                </a:solidFill>
              </a:rPr>
              <a:t>Future Directions</a:t>
            </a:r>
          </a:p>
        </p:txBody>
      </p:sp>
      <p:sp>
        <p:nvSpPr>
          <p:cNvPr id="12" name="ChallengesList"/>
          <p:cNvSpPr txBox="1"/>
          <p:nvPr/>
        </p:nvSpPr>
        <p:spPr>
          <a:xfrm>
            <a:off x="300000" y="1600000"/>
            <a:ext cx="4500000" cy="4800000"/>
          </a:xfrm>
          <a:prstGeom prst="rect">
            <a:avLst/>
          </a:prstGeom>
        </p:spPr>
        <p:txBody>
          <a:bodyPr wrap="square" lIns="91440" tIns="91440" rIns="91440" bIns="91440"/>
          <a:lstStyle/>
          <a:p>
            <a:pPr marL="342900" indent="-342900">
              <a:lnSpc>
                <a:spcPct val="150000"/>
              </a:lnSpc>
              <a:spcBef>
                <a:spcPts val="200"/>
              </a:spcBef>
              <a:buChar char="✓"/>
            </a:pPr>
            <a:r>
              <a:rPr lang="en-US" dirty="0">
                <a:latin typeface="Times New Roman" panose="02020603050405020304" pitchFamily="18" charset="0"/>
                <a:cs typeface="Times New Roman" panose="02020603050405020304" pitchFamily="18" charset="0"/>
              </a:rPr>
              <a:t>Poor generalization to unseen deepfake types</a:t>
            </a:r>
          </a:p>
          <a:p>
            <a:pPr marL="342900" indent="-342900">
              <a:lnSpc>
                <a:spcPct val="150000"/>
              </a:lnSpc>
              <a:spcBef>
                <a:spcPts val="200"/>
              </a:spcBef>
              <a:buChar char="✓"/>
            </a:pPr>
            <a:r>
              <a:rPr lang="en-US" dirty="0">
                <a:latin typeface="Times New Roman" panose="02020603050405020304" pitchFamily="18" charset="0"/>
                <a:cs typeface="Times New Roman" panose="02020603050405020304" pitchFamily="18" charset="0"/>
              </a:rPr>
              <a:t>Limited dataset diversity vs real-world conditions</a:t>
            </a:r>
          </a:p>
          <a:p>
            <a:pPr marL="342900" indent="-342900">
              <a:lnSpc>
                <a:spcPct val="150000"/>
              </a:lnSpc>
              <a:spcBef>
                <a:spcPts val="200"/>
              </a:spcBef>
              <a:buChar char="✓"/>
            </a:pPr>
            <a:r>
              <a:rPr lang="en-US" dirty="0">
                <a:latin typeface="Times New Roman" panose="02020603050405020304" pitchFamily="18" charset="0"/>
                <a:cs typeface="Times New Roman" panose="02020603050405020304" pitchFamily="18" charset="0"/>
              </a:rPr>
              <a:t>High computational cost of hybrid models</a:t>
            </a:r>
          </a:p>
          <a:p>
            <a:pPr marL="342900" indent="-342900">
              <a:lnSpc>
                <a:spcPct val="150000"/>
              </a:lnSpc>
              <a:spcBef>
                <a:spcPts val="200"/>
              </a:spcBef>
              <a:buChar char="✓"/>
            </a:pPr>
            <a:r>
              <a:rPr lang="en-US" dirty="0">
                <a:latin typeface="Times New Roman" panose="02020603050405020304" pitchFamily="18" charset="0"/>
                <a:cs typeface="Times New Roman" panose="02020603050405020304" pitchFamily="18" charset="0"/>
              </a:rPr>
              <a:t>CNNs lose spatial info; CapsNets not fully optimized</a:t>
            </a:r>
          </a:p>
          <a:p>
            <a:pPr marL="342900" indent="-342900">
              <a:lnSpc>
                <a:spcPct val="150000"/>
              </a:lnSpc>
              <a:spcBef>
                <a:spcPts val="200"/>
              </a:spcBef>
              <a:buChar char="✓"/>
            </a:pPr>
            <a:r>
              <a:rPr lang="en-US" dirty="0">
                <a:latin typeface="Times New Roman" panose="02020603050405020304" pitchFamily="18" charset="0"/>
                <a:cs typeface="Times New Roman" panose="02020603050405020304" pitchFamily="18" charset="0"/>
              </a:rPr>
              <a:t>Continuously evolving deepfake generation techniques</a:t>
            </a:r>
          </a:p>
          <a:p>
            <a:pPr marL="342900" indent="-342900">
              <a:lnSpc>
                <a:spcPct val="150000"/>
              </a:lnSpc>
              <a:spcBef>
                <a:spcPts val="200"/>
              </a:spcBef>
              <a:buChar char="✓"/>
            </a:pPr>
            <a:r>
              <a:rPr lang="en-US" dirty="0">
                <a:latin typeface="Times New Roman" panose="02020603050405020304" pitchFamily="18" charset="0"/>
                <a:cs typeface="Times New Roman" panose="02020603050405020304" pitchFamily="18" charset="0"/>
              </a:rPr>
              <a:t>Lack of model interpretability and transparency</a:t>
            </a:r>
          </a:p>
        </p:txBody>
      </p:sp>
      <p:sp>
        <p:nvSpPr>
          <p:cNvPr id="13" name="FutureList"/>
          <p:cNvSpPr txBox="1"/>
          <p:nvPr/>
        </p:nvSpPr>
        <p:spPr>
          <a:xfrm>
            <a:off x="5100000" y="1600000"/>
            <a:ext cx="4500000" cy="4800000"/>
          </a:xfrm>
          <a:prstGeom prst="rect">
            <a:avLst/>
          </a:prstGeom>
        </p:spPr>
        <p:txBody>
          <a:bodyPr wrap="square" lIns="91440" tIns="91440" rIns="91440" bIns="91440"/>
          <a:lstStyle/>
          <a:p>
            <a:pPr marL="342900" indent="-342900">
              <a:lnSpc>
                <a:spcPct val="150000"/>
              </a:lnSpc>
              <a:spcBef>
                <a:spcPts val="200"/>
              </a:spcBef>
              <a:buChar char="→"/>
            </a:pPr>
            <a:r>
              <a:rPr lang="en-US" dirty="0">
                <a:latin typeface="Times New Roman" panose="02020603050405020304" pitchFamily="18" charset="0"/>
                <a:cs typeface="Times New Roman" panose="02020603050405020304" pitchFamily="18" charset="0"/>
              </a:rPr>
              <a:t>Efficient, scalable real-time detection models</a:t>
            </a:r>
          </a:p>
          <a:p>
            <a:pPr marL="342900" indent="-342900">
              <a:lnSpc>
                <a:spcPct val="150000"/>
              </a:lnSpc>
              <a:spcBef>
                <a:spcPts val="200"/>
              </a:spcBef>
              <a:buChar char="→"/>
            </a:pPr>
            <a:r>
              <a:rPr lang="en-US" dirty="0">
                <a:latin typeface="Times New Roman" panose="02020603050405020304" pitchFamily="18" charset="0"/>
                <a:cs typeface="Times New Roman" panose="02020603050405020304" pitchFamily="18" charset="0"/>
              </a:rPr>
              <a:t>Larger, more diverse training datasets</a:t>
            </a:r>
          </a:p>
          <a:p>
            <a:pPr marL="342900" indent="-342900">
              <a:lnSpc>
                <a:spcPct val="150000"/>
              </a:lnSpc>
              <a:spcBef>
                <a:spcPts val="200"/>
              </a:spcBef>
              <a:buChar char="→"/>
            </a:pPr>
            <a:r>
              <a:rPr lang="en-US" dirty="0">
                <a:latin typeface="Times New Roman" panose="02020603050405020304" pitchFamily="18" charset="0"/>
                <a:cs typeface="Times New Roman" panose="02020603050405020304" pitchFamily="18" charset="0"/>
              </a:rPr>
              <a:t>Multimodal detection: visual + audio + temporal</a:t>
            </a:r>
          </a:p>
          <a:p>
            <a:pPr marL="342900" indent="-342900">
              <a:lnSpc>
                <a:spcPct val="150000"/>
              </a:lnSpc>
              <a:spcBef>
                <a:spcPts val="200"/>
              </a:spcBef>
              <a:buChar char="→"/>
            </a:pPr>
            <a:r>
              <a:rPr lang="en-US" dirty="0">
                <a:latin typeface="Times New Roman" panose="02020603050405020304" pitchFamily="18" charset="0"/>
                <a:cs typeface="Times New Roman" panose="02020603050405020304" pitchFamily="18" charset="0"/>
              </a:rPr>
              <a:t>Lightweight models for edge and mobile deployment</a:t>
            </a:r>
          </a:p>
          <a:p>
            <a:pPr marL="342900" indent="-342900">
              <a:lnSpc>
                <a:spcPct val="150000"/>
              </a:lnSpc>
              <a:spcBef>
                <a:spcPts val="200"/>
              </a:spcBef>
              <a:buChar char="→"/>
            </a:pPr>
            <a:r>
              <a:rPr lang="en-US" dirty="0">
                <a:latin typeface="Times New Roman" panose="02020603050405020304" pitchFamily="18" charset="0"/>
                <a:cs typeface="Times New Roman" panose="02020603050405020304" pitchFamily="18" charset="0"/>
              </a:rPr>
              <a:t>Robustness against adversarial attacks</a:t>
            </a:r>
          </a:p>
          <a:p>
            <a:pPr marL="342900" indent="-342900">
              <a:lnSpc>
                <a:spcPct val="150000"/>
              </a:lnSpc>
              <a:spcBef>
                <a:spcPts val="200"/>
              </a:spcBef>
              <a:buChar char="→"/>
            </a:pPr>
            <a:r>
              <a:rPr lang="en-US" dirty="0">
                <a:latin typeface="Times New Roman" panose="02020603050405020304" pitchFamily="18" charset="0"/>
                <a:cs typeface="Times New Roman" panose="02020603050405020304" pitchFamily="18" charset="0"/>
              </a:rPr>
              <a:t>Improved model interpretability and explainability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278130"/>
            <a:ext cx="5525135" cy="520065"/>
          </a:xfrm>
          <a:prstGeom prst="rect">
            <a:avLst/>
          </a:prstGeom>
        </p:spPr>
        <p:txBody>
          <a:bodyPr vert="horz" wrap="square" lIns="0" tIns="12700" rIns="0" bIns="0" rtlCol="0">
            <a:spAutoFit/>
          </a:bodyPr>
          <a:lstStyle/>
          <a:p>
            <a:pPr marL="1569720">
              <a:lnSpc>
                <a:spcPct val="100000"/>
              </a:lnSpc>
              <a:spcBef>
                <a:spcPts val="100"/>
              </a:spcBef>
            </a:pPr>
            <a:r>
              <a:rPr lang="en-US" sz="3300"/>
              <a:t>DISCUSSION</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t>8</a:t>
            </a:fld>
            <a:endParaRPr spc="-50" dirty="0"/>
          </a:p>
        </p:txBody>
      </p:sp>
      <p:sp>
        <p:nvSpPr>
          <p:cNvPr id="3" name="Text Box 2"/>
          <p:cNvSpPr txBox="1"/>
          <p:nvPr/>
        </p:nvSpPr>
        <p:spPr>
          <a:xfrm>
            <a:off x="305435" y="1507490"/>
            <a:ext cx="9448165" cy="5444054"/>
          </a:xfrm>
          <a:prstGeom prst="rect">
            <a:avLst/>
          </a:prstGeom>
          <a:noFill/>
        </p:spPr>
        <p:txBody>
          <a:bodyPr wrap="square" rtlCol="0">
            <a:spAutoFit/>
          </a:bodyPr>
          <a:lstStyle/>
          <a:p>
            <a:pPr>
              <a:lnSpc>
                <a:spcPct val="150000"/>
              </a:lnSpc>
            </a:pPr>
            <a:r>
              <a:rPr lang="en-US" altLang="en-US" dirty="0">
                <a:latin typeface="Times New Roman" panose="02020603050405020304" pitchFamily="18" charset="0"/>
                <a:cs typeface="Times New Roman" panose="02020603050405020304" pitchFamily="18" charset="0"/>
              </a:rPr>
              <a:t>The hybrid CNN–Capsule model outperforms standalone architectures across both </a:t>
            </a:r>
            <a:r>
              <a:rPr lang="en-US" altLang="en-US" dirty="0" err="1">
                <a:latin typeface="Times New Roman" panose="02020603050405020304" pitchFamily="18" charset="0"/>
                <a:cs typeface="Times New Roman" panose="02020603050405020304" pitchFamily="18" charset="0"/>
              </a:rPr>
              <a:t>FaceForensics</a:t>
            </a:r>
            <a:r>
              <a:rPr lang="en-US" altLang="en-US" dirty="0">
                <a:latin typeface="Times New Roman" panose="02020603050405020304" pitchFamily="18" charset="0"/>
                <a:cs typeface="Times New Roman" panose="02020603050405020304" pitchFamily="18" charset="0"/>
              </a:rPr>
              <a:t>++ and DFDC datasets, achieving 92.4% accuracy with strong precision, recall, and F1-score.</a:t>
            </a:r>
          </a:p>
          <a:p>
            <a:pPr>
              <a:lnSpc>
                <a:spcPct val="150000"/>
              </a:lnSpc>
            </a:pP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CNNs effectively extract low-level visual artifacts, but lose spatial relationships. Capsule Networks address this by preserving part-whole and hierarchical structures in facial regions.</a:t>
            </a:r>
          </a:p>
          <a:p>
            <a:pPr>
              <a:lnSpc>
                <a:spcPct val="150000"/>
              </a:lnSpc>
            </a:pP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The hybrid approach combines the strengths of both models, improving robustness and generalization, though it introduces additional computational complexity requiring further optimization.</a:t>
            </a:r>
          </a:p>
          <a:p>
            <a:pPr>
              <a:lnSpc>
                <a:spcPct val="150000"/>
              </a:lnSpc>
            </a:pPr>
            <a:endParaRPr lang="en-US" altLang="en-US" dirty="0">
              <a:latin typeface="Times New Roman" panose="02020603050405020304" pitchFamily="18" charset="0"/>
              <a:cs typeface="Times New Roman" panose="02020603050405020304" pitchFamily="18" charset="0"/>
            </a:endParaRPr>
          </a:p>
          <a:p>
            <a:pPr>
              <a:lnSpc>
                <a:spcPct val="150000"/>
              </a:lnSpc>
            </a:pPr>
            <a:r>
              <a:rPr lang="en-US" altLang="en-US" dirty="0">
                <a:latin typeface="Times New Roman" panose="02020603050405020304" pitchFamily="18" charset="0"/>
                <a:cs typeface="Times New Roman" panose="02020603050405020304" pitchFamily="18" charset="0"/>
              </a:rPr>
              <a:t>“The proposed CNN–Capsule hybrid model provides reliable and efficient deepfake detection, demonstrating the importance of combining feature extraction with spatial relationship modeling.”</a:t>
            </a:r>
          </a:p>
          <a:p>
            <a:pPr>
              <a:lnSpc>
                <a:spcPct val="150000"/>
              </a:lnSpc>
            </a:pPr>
            <a:endParaRPr lang="en-US" alt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6733" y="278373"/>
            <a:ext cx="4933315" cy="538480"/>
          </a:xfrm>
        </p:spPr>
        <p:txBody>
          <a:bodyPr/>
          <a:lstStyle/>
          <a:p>
            <a:r>
              <a:rPr lang="en-US"/>
              <a:t>CONCLUSION</a:t>
            </a:r>
          </a:p>
        </p:txBody>
      </p:sp>
      <p:sp>
        <p:nvSpPr>
          <p:cNvPr id="3" name="Text Box 2"/>
          <p:cNvSpPr txBox="1"/>
          <p:nvPr/>
        </p:nvSpPr>
        <p:spPr>
          <a:xfrm>
            <a:off x="381000" y="1464310"/>
            <a:ext cx="8760460" cy="3046988"/>
          </a:xfrm>
          <a:prstGeom prst="rect">
            <a:avLst/>
          </a:prstGeom>
          <a:noFill/>
        </p:spPr>
        <p:txBody>
          <a:bodyPr wrap="square" rtlCol="0">
            <a:spAutoFit/>
          </a:bodyPr>
          <a:lstStyle/>
          <a:p>
            <a:pPr marL="285750" indent="-285750">
              <a:lnSpc>
                <a:spcPct val="200000"/>
              </a:lnSpc>
              <a:buFont typeface="Wingdings" panose="05000000000000000000" charset="0"/>
              <a:buChar char="Ø"/>
            </a:pPr>
            <a:r>
              <a:rPr lang="en-US" altLang="en-US" dirty="0">
                <a:latin typeface="Times New Roman" panose="02020603050405020304" pitchFamily="18" charset="0"/>
                <a:cs typeface="Times New Roman" panose="02020603050405020304" pitchFamily="18" charset="0"/>
              </a:rPr>
              <a:t>Hybrid CNN–Capsule model achieves 92.4% accuracy on benchmark datasets</a:t>
            </a:r>
          </a:p>
          <a:p>
            <a:pPr marL="285750" indent="-285750">
              <a:lnSpc>
                <a:spcPct val="200000"/>
              </a:lnSpc>
              <a:buFont typeface="Wingdings" panose="05000000000000000000" charset="0"/>
              <a:buChar char="Ø"/>
            </a:pPr>
            <a:r>
              <a:rPr lang="en-US" altLang="en-US" dirty="0">
                <a:latin typeface="Times New Roman" panose="02020603050405020304" pitchFamily="18" charset="0"/>
                <a:cs typeface="Times New Roman" panose="02020603050405020304" pitchFamily="18" charset="0"/>
              </a:rPr>
              <a:t>Outperforms standalone CNN and Capsule Network models</a:t>
            </a:r>
          </a:p>
          <a:p>
            <a:pPr marL="285750" indent="-285750">
              <a:lnSpc>
                <a:spcPct val="200000"/>
              </a:lnSpc>
              <a:buFont typeface="Wingdings" panose="05000000000000000000" charset="0"/>
              <a:buChar char="Ø"/>
            </a:pPr>
            <a:r>
              <a:rPr lang="en-US" altLang="en-US" dirty="0">
                <a:latin typeface="Times New Roman" panose="02020603050405020304" pitchFamily="18" charset="0"/>
                <a:cs typeface="Times New Roman" panose="02020603050405020304" pitchFamily="18" charset="0"/>
              </a:rPr>
              <a:t>Challenges remain: computational cost, generalization, evolving deepfakes</a:t>
            </a:r>
          </a:p>
          <a:p>
            <a:pPr marL="285750" indent="-285750">
              <a:lnSpc>
                <a:spcPct val="200000"/>
              </a:lnSpc>
              <a:buFont typeface="Wingdings" panose="05000000000000000000" charset="0"/>
              <a:buChar char="Ø"/>
            </a:pPr>
            <a:r>
              <a:rPr lang="en-US" altLang="en-US" dirty="0">
                <a:latin typeface="Times New Roman" panose="02020603050405020304" pitchFamily="18" charset="0"/>
                <a:cs typeface="Times New Roman" panose="02020603050405020304" pitchFamily="18" charset="0"/>
              </a:rPr>
              <a:t>Future: multimodal detection, edge deployment, adversarial robustness</a:t>
            </a:r>
          </a:p>
          <a:p>
            <a:pPr marL="285750" indent="-285750">
              <a:buFont typeface="Wingdings" panose="05000000000000000000" charset="0"/>
              <a:buChar char="Ø"/>
            </a:pPr>
            <a:endParaRPr lang="en-US" altLang="en-US" sz="2400" dirty="0"/>
          </a:p>
          <a:p>
            <a:pPr marL="0" indent="0">
              <a:buFont typeface="Wingdings" panose="05000000000000000000" charset="0"/>
              <a:buNone/>
            </a:pPr>
            <a:endParaRPr lang="en-US" altLang="en-US" sz="2400" dirty="0"/>
          </a:p>
        </p:txBody>
      </p:sp>
      <p:sp>
        <p:nvSpPr>
          <p:cNvPr id="8" name="TextBox 7">
            <a:extLst>
              <a:ext uri="{FF2B5EF4-FFF2-40B4-BE49-F238E27FC236}">
                <a16:creationId xmlns:a16="http://schemas.microsoft.com/office/drawing/2014/main" id="{D68855E1-6FDA-080D-986D-0DC06F160463}"/>
              </a:ext>
            </a:extLst>
          </p:cNvPr>
          <p:cNvSpPr txBox="1"/>
          <p:nvPr/>
        </p:nvSpPr>
        <p:spPr>
          <a:xfrm>
            <a:off x="9296400" y="7162800"/>
            <a:ext cx="685800" cy="292388"/>
          </a:xfrm>
          <a:prstGeom prst="rect">
            <a:avLst/>
          </a:prstGeom>
          <a:noFill/>
        </p:spPr>
        <p:txBody>
          <a:bodyPr wrap="square" rtlCol="0">
            <a:spAutoFit/>
          </a:bodyPr>
          <a:lstStyle/>
          <a:p>
            <a:r>
              <a:rPr lang="en-IN" sz="1300" b="1" dirty="0">
                <a:latin typeface="Calibri" panose="020F0502020204030204"/>
                <a:cs typeface="Calibri" panose="020F0502020204030204"/>
              </a:rPr>
              <a:t>9</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48309" y="3503193"/>
            <a:ext cx="3337560" cy="930910"/>
          </a:xfrm>
          <a:prstGeom prst="rect">
            <a:avLst/>
          </a:prstGeom>
        </p:spPr>
        <p:txBody>
          <a:bodyPr vert="horz" wrap="square" lIns="0" tIns="17780" rIns="0" bIns="0" rtlCol="0">
            <a:spAutoFit/>
          </a:bodyPr>
          <a:lstStyle/>
          <a:p>
            <a:pPr marL="12700">
              <a:lnSpc>
                <a:spcPct val="100000"/>
              </a:lnSpc>
              <a:spcBef>
                <a:spcPts val="140"/>
              </a:spcBef>
            </a:pPr>
            <a:r>
              <a:rPr sz="5900" dirty="0"/>
              <a:t>Thank</a:t>
            </a:r>
            <a:r>
              <a:rPr sz="5900" spc="-200" dirty="0"/>
              <a:t> </a:t>
            </a:r>
            <a:r>
              <a:rPr sz="5900" spc="-530" dirty="0"/>
              <a:t>Y</a:t>
            </a:r>
            <a:r>
              <a:rPr sz="5900" spc="80" dirty="0"/>
              <a:t>ou</a:t>
            </a:r>
            <a:endParaRPr sz="5900"/>
          </a:p>
        </p:txBody>
      </p:sp>
      <p:sp>
        <p:nvSpPr>
          <p:cNvPr id="3" name="object 3"/>
          <p:cNvSpPr txBox="1"/>
          <p:nvPr/>
        </p:nvSpPr>
        <p:spPr>
          <a:xfrm>
            <a:off x="9271511" y="7227086"/>
            <a:ext cx="196215" cy="179536"/>
          </a:xfrm>
          <a:prstGeom prst="rect">
            <a:avLst/>
          </a:prstGeom>
        </p:spPr>
        <p:txBody>
          <a:bodyPr vert="horz" wrap="square" lIns="0" tIns="0" rIns="0" bIns="0" rtlCol="0">
            <a:spAutoFit/>
          </a:bodyPr>
          <a:lstStyle/>
          <a:p>
            <a:pPr marL="12700">
              <a:lnSpc>
                <a:spcPts val="1350"/>
              </a:lnSpc>
            </a:pPr>
            <a:r>
              <a:rPr lang="en-IN" sz="1300" b="1" dirty="0">
                <a:latin typeface="Calibri" panose="020F0502020204030204"/>
                <a:cs typeface="Calibri" panose="020F0502020204030204"/>
              </a:rPr>
              <a:t>10</a:t>
            </a:r>
            <a:endParaRPr sz="1300" b="1" dirty="0">
              <a:latin typeface="Calibri" panose="020F0502020204030204"/>
              <a:cs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712</Words>
  <Application>Microsoft Office PowerPoint</Application>
  <PresentationFormat>Custom</PresentationFormat>
  <Paragraphs>104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Times New Roman</vt:lpstr>
      <vt:lpstr>Wingdings</vt:lpstr>
      <vt:lpstr>Office Theme</vt:lpstr>
      <vt:lpstr>PowerPoint Presentation</vt:lpstr>
      <vt:lpstr>INTRODUCTION</vt:lpstr>
      <vt:lpstr>BACKGROUND</vt:lpstr>
      <vt:lpstr>METHODS</vt:lpstr>
      <vt:lpstr>RESULTS</vt:lpstr>
      <vt:lpstr>RESULTS</vt:lpstr>
      <vt:lpstr>CHALLENGES VS FUTURE DIRECTIONS</vt:lpstr>
      <vt:lpstr>DISCUSSION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final presentaion bee</dc:title>
  <dc:creator>Karan Arora</dc:creator>
  <cp:lastModifiedBy>Liza .</cp:lastModifiedBy>
  <cp:revision>8</cp:revision>
  <dcterms:created xsi:type="dcterms:W3CDTF">2025-12-12T11:10:00Z</dcterms:created>
  <dcterms:modified xsi:type="dcterms:W3CDTF">2026-05-19T03:11:26Z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2024-09-25T11:00:00Z</vt:filetime>
  </property>
  <property fmtid="{D5CDD505-2E9C-101B-9397-08002B2CF9AE}" pid="3" name="LastSaved">
    <vt:filetime>2025-12-12T11:00:00Z</vt:filetime>
  </property>
  <property fmtid="{D5CDD505-2E9C-101B-9397-08002B2CF9AE}" pid="4" name="Producer">
    <vt:lpwstr>Microsoft: Print To PDF</vt:lpwstr>
  </property>
  <property fmtid="{D5CDD505-2E9C-101B-9397-08002B2CF9AE}" pid="5" name="ICV">
    <vt:lpwstr>6327BD8491754D76AB923B1BF26D9991_12</vt:lpwstr>
  </property>
  <property fmtid="{D5CDD505-2E9C-101B-9397-08002B2CF9AE}" pid="6" name="KSOProductBuildVer">
    <vt:lpwstr>1033-12.2.0.23196</vt:lpwstr>
  </property>
</Properties>
</file>